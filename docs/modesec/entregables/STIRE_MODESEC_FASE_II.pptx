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Fase II de MODESEC: explica el modelo, muestra lo producido y declara lo que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F1B"/>
        </a:solidFill>
      </p:bgPr>
    </p:bg>
    <p:spTree>
      <p:nvGrpSpPr>
        <p:cNvPr id="1" name=""/>
        <p:cNvGrpSpPr/>
        <p:nvPr/>
      </p:nvGrpSpPr>
      <p:grpSpPr>
        <a:xfrm>
          <a:off x="0" y="0"/>
          <a:ext cx="0" cy="0"/>
          <a:chOff x="0" y="0"/>
          <a:chExt cx="0" cy="0"/>
        </a:xfrm>
      </p:grpSpPr>
      <p:sp>
        <p:nvSpPr>
          <p:cNvPr id="2" name="Shape 0"/>
          <p:cNvSpPr/>
          <p:nvPr/>
        </p:nvSpPr>
        <p:spPr>
          <a:xfrm>
            <a:off x="9509760" y="-1280160"/>
            <a:ext cx="4754880" cy="4754880"/>
          </a:xfrm>
          <a:prstGeom prst="ellipse">
            <a:avLst/>
          </a:prstGeom>
          <a:solidFill>
            <a:srgbClr val="C87B1E">
              <a:alpha val="12000"/>
            </a:srgbClr>
          </a:solidFill>
          <a:ln/>
        </p:spPr>
      </p:sp>
      <p:sp>
        <p:nvSpPr>
          <p:cNvPr id="3" name="Text 1"/>
          <p:cNvSpPr txBox="1"/>
          <p:nvPr/>
        </p:nvSpPr>
        <p:spPr>
          <a:xfrm>
            <a:off x="822960" y="1417320"/>
            <a:ext cx="8229600" cy="365760"/>
          </a:xfrm>
          <a:prstGeom prst="rect">
            <a:avLst/>
          </a:prstGeom>
          <a:noFill/>
          <a:ln/>
        </p:spPr>
        <p:txBody>
          <a:bodyPr wrap="square" lIns="0" tIns="0" rIns="0" bIns="0" rtlCol="0" anchor="ctr"/>
          <a:lstStyle/>
          <a:p>
            <a:pPr indent="0" marL="0">
              <a:buNone/>
            </a:pPr>
            <a:r>
              <a:rPr lang="en-US" sz="1500" b="1" spc="300" kern="0" dirty="0">
                <a:solidFill>
                  <a:srgbClr val="C87B1E"/>
                </a:solidFill>
                <a:latin typeface="Calibri" pitchFamily="34" charset="0"/>
                <a:ea typeface="Calibri" pitchFamily="34" charset="-122"/>
                <a:cs typeface="Calibri" pitchFamily="34" charset="-120"/>
              </a:rPr>
              <a:t>MODESEC · FASE II</a:t>
            </a:r>
            <a:endParaRPr lang="en-US" sz="1500" dirty="0"/>
          </a:p>
        </p:txBody>
      </p:sp>
      <p:sp>
        <p:nvSpPr>
          <p:cNvPr id="4" name="Text 2"/>
          <p:cNvSpPr txBox="1"/>
          <p:nvPr/>
        </p:nvSpPr>
        <p:spPr>
          <a:xfrm>
            <a:off x="822960" y="1874520"/>
            <a:ext cx="91440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Diseño Multimedial</a:t>
            </a:r>
            <a:endParaRPr lang="en-US" sz="4800" dirty="0"/>
          </a:p>
        </p:txBody>
      </p:sp>
      <p:sp>
        <p:nvSpPr>
          <p:cNvPr id="5" name="Text 3"/>
          <p:cNvSpPr txBox="1"/>
          <p:nvPr/>
        </p:nvSpPr>
        <p:spPr>
          <a:xfrm>
            <a:off x="822960" y="2834640"/>
            <a:ext cx="9601200" cy="457200"/>
          </a:xfrm>
          <a:prstGeom prst="rect">
            <a:avLst/>
          </a:prstGeom>
          <a:noFill/>
          <a:ln/>
        </p:spPr>
        <p:txBody>
          <a:bodyPr wrap="square" lIns="0" tIns="0" rIns="0" bIns="0" rtlCol="0" anchor="ctr"/>
          <a:lstStyle/>
          <a:p>
            <a:pPr indent="0" marL="0">
              <a:buNone/>
            </a:pPr>
            <a:r>
              <a:rPr lang="en-US" sz="1900" dirty="0">
                <a:solidFill>
                  <a:srgbClr val="EDE8E1"/>
                </a:solidFill>
                <a:latin typeface="Calibri" pitchFamily="34" charset="0"/>
                <a:ea typeface="Calibri" pitchFamily="34" charset="-122"/>
                <a:cs typeface="Calibri" pitchFamily="34" charset="-120"/>
              </a:rPr>
              <a:t>STIRE · Sistema Tutor Inteligente para la Resolución de Ejercicios</a:t>
            </a:r>
            <a:endParaRPr lang="en-US" sz="1900" dirty="0"/>
          </a:p>
        </p:txBody>
      </p:sp>
      <p:sp>
        <p:nvSpPr>
          <p:cNvPr id="6" name="Text 4"/>
          <p:cNvSpPr txBox="1"/>
          <p:nvPr/>
        </p:nvSpPr>
        <p:spPr>
          <a:xfrm>
            <a:off x="822960" y="3977640"/>
            <a:ext cx="10058400" cy="1097280"/>
          </a:xfrm>
          <a:prstGeom prst="rect">
            <a:avLst/>
          </a:prstGeom>
          <a:noFill/>
          <a:ln/>
        </p:spPr>
        <p:txBody>
          <a:bodyPr wrap="square" lIns="0" tIns="0" rIns="0" bIns="0" rtlCol="0" anchor="ctr"/>
          <a:lstStyle/>
          <a:p>
            <a:pPr indent="0" marL="0">
              <a:lnSpc>
                <a:spcPts val="2200"/>
              </a:lnSpc>
              <a:buNone/>
            </a:pPr>
            <a:r>
              <a:rPr lang="en-US" sz="1300" dirty="0">
                <a:solidFill>
                  <a:srgbClr val="7A716A"/>
                </a:solidFill>
                <a:latin typeface="Calibri" pitchFamily="34" charset="0"/>
                <a:ea typeface="Calibri" pitchFamily="34" charset="-122"/>
                <a:cs typeface="Calibri" pitchFamily="34" charset="-120"/>
              </a:rPr>
              <a:t>Fundamentos de Algoritmia  ·  3.er semestre, Licenciatura en Informática</a:t>
            </a:r>
            <a:endParaRPr lang="en-US" sz="1300" dirty="0"/>
          </a:p>
          <a:p>
            <a:pPr indent="0" marL="0">
              <a:lnSpc>
                <a:spcPts val="2200"/>
              </a:lnSpc>
              <a:buNone/>
            </a:pPr>
            <a:r>
              <a:rPr lang="en-US" sz="1300" dirty="0">
                <a:solidFill>
                  <a:srgbClr val="7A716A"/>
                </a:solidFill>
                <a:latin typeface="Calibri" pitchFamily="34" charset="0"/>
                <a:ea typeface="Calibri" pitchFamily="34" charset="-122"/>
                <a:cs typeface="Calibri" pitchFamily="34" charset="-120"/>
              </a:rPr>
              <a:t>DDSE3 2026-2  ·  Universidad de Córdoba  ·  Docente: Dr. Raúl Emiro Toscano Miranda</a:t>
            </a:r>
            <a:endParaRPr lang="en-US" sz="1300" dirty="0"/>
          </a:p>
          <a:p>
            <a:pPr indent="0" marL="0">
              <a:lnSpc>
                <a:spcPts val="2200"/>
              </a:lnSpc>
              <a:buNone/>
            </a:pPr>
            <a:r>
              <a:rPr lang="en-US" sz="1300" dirty="0">
                <a:solidFill>
                  <a:srgbClr val="7A716A"/>
                </a:solidFill>
                <a:latin typeface="Calibri" pitchFamily="34" charset="0"/>
                <a:ea typeface="Calibri" pitchFamily="34" charset="-122"/>
                <a:cs typeface="Calibri" pitchFamily="34" charset="-120"/>
              </a:rPr>
              <a:t>Norma aplicada: DDS3-01.pdf §3  ·  Libro MODESEC (Caro, Toscano, Hernández y David, 2012)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¿Qué es MODESEC?</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Modelo para el Desarrollo de Software Educativo basado en Competencias · versión formal MODESEC-ISO/IEC 12207</a:t>
            </a:r>
            <a:endParaRPr lang="en-US" sz="1400" dirty="0"/>
          </a:p>
        </p:txBody>
      </p:sp>
      <p:sp>
        <p:nvSpPr>
          <p:cNvPr id="4" name="Shape 2"/>
          <p:cNvSpPr/>
          <p:nvPr/>
        </p:nvSpPr>
        <p:spPr>
          <a:xfrm>
            <a:off x="548640" y="1600200"/>
            <a:ext cx="11064240" cy="1051560"/>
          </a:xfrm>
          <a:prstGeom prst="roundRect">
            <a:avLst>
              <a:gd name="adj" fmla="val 6957"/>
            </a:avLst>
          </a:prstGeom>
          <a:solidFill>
            <a:srgbClr val="EDE8E1"/>
          </a:solidFill>
          <a:ln w="12700">
            <a:solidFill>
              <a:srgbClr val="EDE8E1"/>
            </a:solidFill>
            <a:prstDash val="solid"/>
          </a:ln>
        </p:spPr>
      </p:sp>
      <p:sp>
        <p:nvSpPr>
          <p:cNvPr id="5" name="Text 3"/>
          <p:cNvSpPr txBox="1"/>
          <p:nvPr/>
        </p:nvSpPr>
        <p:spPr>
          <a:xfrm>
            <a:off x="868680" y="1783080"/>
            <a:ext cx="10424160" cy="685800"/>
          </a:xfrm>
          <a:prstGeom prst="rect">
            <a:avLst/>
          </a:prstGeom>
          <a:noFill/>
          <a:ln/>
        </p:spPr>
        <p:txBody>
          <a:bodyPr wrap="square" lIns="0" tIns="0" rIns="0" bIns="0" rtlCol="0" anchor="ctr"/>
          <a:lstStyle/>
          <a:p>
            <a:pPr indent="0" marL="0">
              <a:buNone/>
            </a:pPr>
            <a:r>
              <a:rPr lang="en-US" sz="1900" b="1" dirty="0">
                <a:solidFill>
                  <a:srgbClr val="2B2622"/>
                </a:solidFill>
                <a:latin typeface="Cambria" pitchFamily="34" charset="0"/>
                <a:ea typeface="Cambria" pitchFamily="34" charset="-122"/>
                <a:cs typeface="Cambria" pitchFamily="34" charset="-120"/>
              </a:rPr>
              <a:t>Es un modelo de desarrollo de software educativo en el que la decisión pedagógica manda sobre la decisión técnica.</a:t>
            </a:r>
            <a:endParaRPr lang="en-US" sz="1900" dirty="0"/>
          </a:p>
        </p:txBody>
      </p:sp>
      <p:sp>
        <p:nvSpPr>
          <p:cNvPr id="6" name="Shape 4"/>
          <p:cNvSpPr/>
          <p:nvPr/>
        </p:nvSpPr>
        <p:spPr>
          <a:xfrm>
            <a:off x="548640" y="2935224"/>
            <a:ext cx="384048" cy="384048"/>
          </a:xfrm>
          <a:prstGeom prst="ellipse">
            <a:avLst/>
          </a:prstGeom>
          <a:solidFill>
            <a:srgbClr val="C87B1E"/>
          </a:solidFill>
          <a:ln/>
        </p:spPr>
      </p:sp>
      <p:sp>
        <p:nvSpPr>
          <p:cNvPr id="7" name="Text 5"/>
          <p:cNvSpPr txBox="1"/>
          <p:nvPr/>
        </p:nvSpPr>
        <p:spPr>
          <a:xfrm>
            <a:off x="548640" y="2935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2916936"/>
            <a:ext cx="3017520" cy="320040"/>
          </a:xfrm>
          <a:prstGeom prst="rect">
            <a:avLst/>
          </a:prstGeom>
          <a:noFill/>
          <a:ln/>
        </p:spPr>
        <p:txBody>
          <a:bodyPr wrap="square" lIns="0" tIns="0" rIns="0" bIns="0" rtlCol="0" anchor="ctr"/>
          <a:lstStyle/>
          <a:p>
            <a:pPr indent="0" marL="0">
              <a:buNone/>
            </a:pPr>
            <a:r>
              <a:rPr lang="en-US" sz="1500" b="1" dirty="0">
                <a:solidFill>
                  <a:srgbClr val="C87B1E"/>
                </a:solidFill>
                <a:latin typeface="Calibri" pitchFamily="34" charset="0"/>
                <a:ea typeface="Calibri" pitchFamily="34" charset="-122"/>
                <a:cs typeface="Calibri" pitchFamily="34" charset="-120"/>
              </a:rPr>
              <a:t>El problema que resuelve</a:t>
            </a:r>
            <a:endParaRPr lang="en-US" sz="1500" dirty="0"/>
          </a:p>
        </p:txBody>
      </p:sp>
      <p:sp>
        <p:nvSpPr>
          <p:cNvPr id="9" name="Text 7"/>
          <p:cNvSpPr txBox="1"/>
          <p:nvPr/>
        </p:nvSpPr>
        <p:spPr>
          <a:xfrm>
            <a:off x="4114800" y="2898648"/>
            <a:ext cx="7498080" cy="91440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Los modelos clásicos (cascada, espiral, RUP) construyen sistemas correctos, pero no tienen ningún apartado que responda qué debe aprender el estudiante ni cómo se sabe que lo aprendió.</a:t>
            </a:r>
            <a:endParaRPr lang="en-US" sz="1350" dirty="0"/>
          </a:p>
        </p:txBody>
      </p:sp>
      <p:sp>
        <p:nvSpPr>
          <p:cNvPr id="10" name="Shape 8"/>
          <p:cNvSpPr/>
          <p:nvPr/>
        </p:nvSpPr>
        <p:spPr>
          <a:xfrm>
            <a:off x="548640" y="4014216"/>
            <a:ext cx="384048" cy="384048"/>
          </a:xfrm>
          <a:prstGeom prst="ellipse">
            <a:avLst/>
          </a:prstGeom>
          <a:solidFill>
            <a:srgbClr val="C87B1E"/>
          </a:solidFill>
          <a:ln/>
        </p:spPr>
      </p:sp>
      <p:sp>
        <p:nvSpPr>
          <p:cNvPr id="11" name="Text 9"/>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97280" y="3995928"/>
            <a:ext cx="3017520" cy="320040"/>
          </a:xfrm>
          <a:prstGeom prst="rect">
            <a:avLst/>
          </a:prstGeom>
          <a:noFill/>
          <a:ln/>
        </p:spPr>
        <p:txBody>
          <a:bodyPr wrap="square" lIns="0" tIns="0" rIns="0" bIns="0" rtlCol="0" anchor="ctr"/>
          <a:lstStyle/>
          <a:p>
            <a:pPr indent="0" marL="0">
              <a:buNone/>
            </a:pPr>
            <a:r>
              <a:rPr lang="en-US" sz="1500" b="1" dirty="0">
                <a:solidFill>
                  <a:srgbClr val="C87B1E"/>
                </a:solidFill>
                <a:latin typeface="Calibri" pitchFamily="34" charset="0"/>
                <a:ea typeface="Calibri" pitchFamily="34" charset="-122"/>
                <a:cs typeface="Calibri" pitchFamily="34" charset="-120"/>
              </a:rPr>
              <a:t>Su respuesta</a:t>
            </a:r>
            <a:endParaRPr lang="en-US" sz="1500" dirty="0"/>
          </a:p>
        </p:txBody>
      </p:sp>
      <p:sp>
        <p:nvSpPr>
          <p:cNvPr id="13" name="Text 11"/>
          <p:cNvSpPr txBox="1"/>
          <p:nvPr/>
        </p:nvSpPr>
        <p:spPr>
          <a:xfrm>
            <a:off x="4114800" y="3977640"/>
            <a:ext cx="7498080" cy="91440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El sistema de competencias es el eje integrador: contenidos, ventanas, base de datos y código deben poder trazarse hasta una competencia declarada.</a:t>
            </a:r>
            <a:endParaRPr lang="en-US" sz="1350" dirty="0"/>
          </a:p>
        </p:txBody>
      </p:sp>
      <p:sp>
        <p:nvSpPr>
          <p:cNvPr id="14" name="Shape 12"/>
          <p:cNvSpPr/>
          <p:nvPr/>
        </p:nvSpPr>
        <p:spPr>
          <a:xfrm>
            <a:off x="548640" y="5093208"/>
            <a:ext cx="384048" cy="384048"/>
          </a:xfrm>
          <a:prstGeom prst="ellipse">
            <a:avLst/>
          </a:prstGeom>
          <a:solidFill>
            <a:srgbClr val="C87B1E"/>
          </a:solidFill>
          <a:ln/>
        </p:spPr>
      </p:sp>
      <p:sp>
        <p:nvSpPr>
          <p:cNvPr id="15" name="Text 13"/>
          <p:cNvSpPr txBox="1"/>
          <p:nvPr/>
        </p:nvSpPr>
        <p:spPr>
          <a:xfrm>
            <a:off x="548640" y="5093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97280" y="5074920"/>
            <a:ext cx="3017520" cy="320040"/>
          </a:xfrm>
          <a:prstGeom prst="rect">
            <a:avLst/>
          </a:prstGeom>
          <a:noFill/>
          <a:ln/>
        </p:spPr>
        <p:txBody>
          <a:bodyPr wrap="square" lIns="0" tIns="0" rIns="0" bIns="0" rtlCol="0" anchor="ctr"/>
          <a:lstStyle/>
          <a:p>
            <a:pPr indent="0" marL="0">
              <a:buNone/>
            </a:pPr>
            <a:r>
              <a:rPr lang="en-US" sz="1500" b="1" dirty="0">
                <a:solidFill>
                  <a:srgbClr val="C87B1E"/>
                </a:solidFill>
                <a:latin typeface="Calibri" pitchFamily="34" charset="0"/>
                <a:ea typeface="Calibri" pitchFamily="34" charset="-122"/>
                <a:cs typeface="Calibri" pitchFamily="34" charset="-120"/>
              </a:rPr>
              <a:t>Su consecuencia práctica</a:t>
            </a:r>
            <a:endParaRPr lang="en-US" sz="1500" dirty="0"/>
          </a:p>
        </p:txBody>
      </p:sp>
      <p:sp>
        <p:nvSpPr>
          <p:cNvPr id="17" name="Text 15"/>
          <p:cNvSpPr txBox="1"/>
          <p:nvPr/>
        </p:nvSpPr>
        <p:spPr>
          <a:xfrm>
            <a:off x="4114800" y="5056632"/>
            <a:ext cx="7498080" cy="91440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Si un botón no sirve a una competencia, ese botón sobra. No se codifica una pantalla que no esté justificada pedagógicamente.</a:t>
            </a:r>
            <a:endParaRPr lang="en-US" sz="1350" dirty="0"/>
          </a:p>
        </p:txBody>
      </p:sp>
      <p:sp>
        <p:nvSpPr>
          <p:cNvPr id="18" name="Text 16"/>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Formulado por Manuel Caro, Raúl Toscano, Filadelfia Hernández y María David — Universidad de Córdoba (2009 / 2012).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Las cinco fases del modelo</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Cada fase está mapeada contra un proceso de la norma ISO/IEC 12207</a:t>
            </a:r>
            <a:endParaRPr lang="en-US" sz="1400" dirty="0"/>
          </a:p>
        </p:txBody>
      </p:sp>
      <p:sp>
        <p:nvSpPr>
          <p:cNvPr id="4" name="Shape 2"/>
          <p:cNvSpPr/>
          <p:nvPr/>
        </p:nvSpPr>
        <p:spPr>
          <a:xfrm>
            <a:off x="548640" y="1737360"/>
            <a:ext cx="11064240" cy="804672"/>
          </a:xfrm>
          <a:prstGeom prst="roundRect">
            <a:avLst>
              <a:gd name="adj" fmla="val 9091"/>
            </a:avLst>
          </a:prstGeom>
          <a:solidFill>
            <a:srgbClr val="F6F3EF"/>
          </a:solidFill>
          <a:ln w="12700">
            <a:solidFill>
              <a:srgbClr val="EDE8E1"/>
            </a:solidFill>
            <a:prstDash val="solid"/>
          </a:ln>
        </p:spPr>
      </p:sp>
      <p:sp>
        <p:nvSpPr>
          <p:cNvPr id="5" name="Shape 3"/>
          <p:cNvSpPr/>
          <p:nvPr/>
        </p:nvSpPr>
        <p:spPr>
          <a:xfrm>
            <a:off x="777240" y="1911096"/>
            <a:ext cx="457200" cy="457200"/>
          </a:xfrm>
          <a:prstGeom prst="ellipse">
            <a:avLst/>
          </a:prstGeom>
          <a:solidFill>
            <a:srgbClr val="7A716A"/>
          </a:solidFill>
          <a:ln/>
        </p:spPr>
      </p:sp>
      <p:sp>
        <p:nvSpPr>
          <p:cNvPr id="6" name="Text 4"/>
          <p:cNvSpPr txBox="1"/>
          <p:nvPr/>
        </p:nvSpPr>
        <p:spPr>
          <a:xfrm>
            <a:off x="777240" y="19110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7" name="Text 5"/>
          <p:cNvSpPr txBox="1"/>
          <p:nvPr/>
        </p:nvSpPr>
        <p:spPr>
          <a:xfrm>
            <a:off x="1417320" y="1856232"/>
            <a:ext cx="2743200" cy="292608"/>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Diseño educativo</a:t>
            </a:r>
            <a:endParaRPr lang="en-US" sz="1500" dirty="0"/>
          </a:p>
        </p:txBody>
      </p:sp>
      <p:sp>
        <p:nvSpPr>
          <p:cNvPr id="8" name="Text 6"/>
          <p:cNvSpPr txBox="1"/>
          <p:nvPr/>
        </p:nvSpPr>
        <p:spPr>
          <a:xfrm>
            <a:off x="1417320" y="2157984"/>
            <a:ext cx="2743200" cy="256032"/>
          </a:xfrm>
          <a:prstGeom prst="rect">
            <a:avLst/>
          </a:prstGeom>
          <a:noFill/>
          <a:ln/>
        </p:spPr>
        <p:txBody>
          <a:bodyPr wrap="square" lIns="0" tIns="0" rIns="0" bIns="0" rtlCol="0" anchor="ctr"/>
          <a:lstStyle/>
          <a:p>
            <a:pPr indent="0" marL="0">
              <a:buNone/>
            </a:pPr>
            <a:r>
              <a:rPr lang="en-US" sz="1100" dirty="0">
                <a:solidFill>
                  <a:srgbClr val="7A716A"/>
                </a:solidFill>
                <a:latin typeface="Calibri" pitchFamily="34" charset="0"/>
                <a:ea typeface="Calibri" pitchFamily="34" charset="-122"/>
                <a:cs typeface="Calibri" pitchFamily="34" charset="-120"/>
              </a:rPr>
              <a:t>Formatos 1–9</a:t>
            </a:r>
            <a:endParaRPr lang="en-US" sz="1100" dirty="0"/>
          </a:p>
        </p:txBody>
      </p:sp>
      <p:sp>
        <p:nvSpPr>
          <p:cNvPr id="9" name="Text 7"/>
          <p:cNvSpPr txBox="1"/>
          <p:nvPr/>
        </p:nvSpPr>
        <p:spPr>
          <a:xfrm>
            <a:off x="4297680" y="1956816"/>
            <a:ext cx="5852160" cy="4114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¿Qué problema educativo resolvemos y con qué competencias?</a:t>
            </a:r>
            <a:endParaRPr lang="en-US" sz="1300" dirty="0"/>
          </a:p>
        </p:txBody>
      </p:sp>
      <p:sp>
        <p:nvSpPr>
          <p:cNvPr id="10" name="Shape 8"/>
          <p:cNvSpPr/>
          <p:nvPr/>
        </p:nvSpPr>
        <p:spPr>
          <a:xfrm>
            <a:off x="548640" y="2670048"/>
            <a:ext cx="11064240" cy="804672"/>
          </a:xfrm>
          <a:prstGeom prst="roundRect">
            <a:avLst>
              <a:gd name="adj" fmla="val 9091"/>
            </a:avLst>
          </a:prstGeom>
          <a:solidFill>
            <a:srgbClr val="EDE8E1"/>
          </a:solidFill>
          <a:ln w="12700">
            <a:solidFill>
              <a:srgbClr val="EDE8E1"/>
            </a:solidFill>
            <a:prstDash val="solid"/>
          </a:ln>
        </p:spPr>
      </p:sp>
      <p:sp>
        <p:nvSpPr>
          <p:cNvPr id="11" name="Shape 9"/>
          <p:cNvSpPr/>
          <p:nvPr/>
        </p:nvSpPr>
        <p:spPr>
          <a:xfrm>
            <a:off x="777240" y="2843784"/>
            <a:ext cx="457200" cy="457200"/>
          </a:xfrm>
          <a:prstGeom prst="ellipse">
            <a:avLst/>
          </a:prstGeom>
          <a:solidFill>
            <a:srgbClr val="C87B1E"/>
          </a:solidFill>
          <a:ln/>
        </p:spPr>
      </p:sp>
      <p:sp>
        <p:nvSpPr>
          <p:cNvPr id="12" name="Text 10"/>
          <p:cNvSpPr txBox="1"/>
          <p:nvPr/>
        </p:nvSpPr>
        <p:spPr>
          <a:xfrm>
            <a:off x="777240" y="28437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II</a:t>
            </a:r>
            <a:endParaRPr lang="en-US" sz="1400" dirty="0"/>
          </a:p>
        </p:txBody>
      </p:sp>
      <p:sp>
        <p:nvSpPr>
          <p:cNvPr id="13" name="Text 11"/>
          <p:cNvSpPr txBox="1"/>
          <p:nvPr/>
        </p:nvSpPr>
        <p:spPr>
          <a:xfrm>
            <a:off x="1417320" y="2788920"/>
            <a:ext cx="2743200" cy="292608"/>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Diseño multimedial</a:t>
            </a:r>
            <a:endParaRPr lang="en-US" sz="1500" dirty="0"/>
          </a:p>
        </p:txBody>
      </p:sp>
      <p:sp>
        <p:nvSpPr>
          <p:cNvPr id="14" name="Text 12"/>
          <p:cNvSpPr txBox="1"/>
          <p:nvPr/>
        </p:nvSpPr>
        <p:spPr>
          <a:xfrm>
            <a:off x="1417320" y="3090672"/>
            <a:ext cx="2743200" cy="256032"/>
          </a:xfrm>
          <a:prstGeom prst="rect">
            <a:avLst/>
          </a:prstGeom>
          <a:noFill/>
          <a:ln/>
        </p:spPr>
        <p:txBody>
          <a:bodyPr wrap="square" lIns="0" tIns="0" rIns="0" bIns="0" rtlCol="0" anchor="ctr"/>
          <a:lstStyle/>
          <a:p>
            <a:pPr indent="0" marL="0">
              <a:buNone/>
            </a:pPr>
            <a:r>
              <a:rPr lang="en-US" sz="1100" dirty="0">
                <a:solidFill>
                  <a:srgbClr val="7A716A"/>
                </a:solidFill>
                <a:latin typeface="Calibri" pitchFamily="34" charset="0"/>
                <a:ea typeface="Calibri" pitchFamily="34" charset="-122"/>
                <a:cs typeface="Calibri" pitchFamily="34" charset="-120"/>
              </a:rPr>
              <a:t>Formatos 10–14</a:t>
            </a:r>
            <a:endParaRPr lang="en-US" sz="1100" dirty="0"/>
          </a:p>
        </p:txBody>
      </p:sp>
      <p:sp>
        <p:nvSpPr>
          <p:cNvPr id="15" name="Text 13"/>
          <p:cNvSpPr txBox="1"/>
          <p:nvPr/>
        </p:nvSpPr>
        <p:spPr>
          <a:xfrm>
            <a:off x="4297680" y="2889504"/>
            <a:ext cx="5852160" cy="4114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¿Cómo se ve, se navega y se comunica en pantalla?</a:t>
            </a:r>
            <a:endParaRPr lang="en-US" sz="1300" dirty="0"/>
          </a:p>
        </p:txBody>
      </p:sp>
      <p:sp>
        <p:nvSpPr>
          <p:cNvPr id="16" name="Text 14"/>
          <p:cNvSpPr txBox="1"/>
          <p:nvPr/>
        </p:nvSpPr>
        <p:spPr>
          <a:xfrm>
            <a:off x="10241280" y="2926080"/>
            <a:ext cx="1188720" cy="292608"/>
          </a:xfrm>
          <a:prstGeom prst="rect">
            <a:avLst/>
          </a:prstGeom>
          <a:noFill/>
          <a:ln/>
        </p:spPr>
        <p:txBody>
          <a:bodyPr wrap="square" lIns="0" tIns="0" rIns="0" bIns="0" rtlCol="0" anchor="ctr"/>
          <a:lstStyle/>
          <a:p>
            <a:pPr algn="r" indent="0" marL="0">
              <a:buNone/>
            </a:pPr>
            <a:r>
              <a:rPr lang="en-US" sz="1000" b="1" dirty="0">
                <a:solidFill>
                  <a:srgbClr val="C87B1E"/>
                </a:solidFill>
                <a:latin typeface="Calibri" pitchFamily="34" charset="0"/>
                <a:ea typeface="Calibri" pitchFamily="34" charset="-122"/>
                <a:cs typeface="Calibri" pitchFamily="34" charset="-120"/>
              </a:rPr>
              <a:t>AQUÍ ESTAMOS</a:t>
            </a:r>
            <a:endParaRPr lang="en-US" sz="1000" dirty="0"/>
          </a:p>
        </p:txBody>
      </p:sp>
      <p:sp>
        <p:nvSpPr>
          <p:cNvPr id="17" name="Shape 15"/>
          <p:cNvSpPr/>
          <p:nvPr/>
        </p:nvSpPr>
        <p:spPr>
          <a:xfrm>
            <a:off x="548640" y="3602736"/>
            <a:ext cx="11064240" cy="804672"/>
          </a:xfrm>
          <a:prstGeom prst="roundRect">
            <a:avLst>
              <a:gd name="adj" fmla="val 9091"/>
            </a:avLst>
          </a:prstGeom>
          <a:solidFill>
            <a:srgbClr val="F6F3EF"/>
          </a:solidFill>
          <a:ln w="12700">
            <a:solidFill>
              <a:srgbClr val="EDE8E1"/>
            </a:solidFill>
            <a:prstDash val="solid"/>
          </a:ln>
        </p:spPr>
      </p:sp>
      <p:sp>
        <p:nvSpPr>
          <p:cNvPr id="18" name="Shape 16"/>
          <p:cNvSpPr/>
          <p:nvPr/>
        </p:nvSpPr>
        <p:spPr>
          <a:xfrm>
            <a:off x="777240" y="3776472"/>
            <a:ext cx="457200" cy="457200"/>
          </a:xfrm>
          <a:prstGeom prst="ellipse">
            <a:avLst/>
          </a:prstGeom>
          <a:solidFill>
            <a:srgbClr val="7A716A"/>
          </a:solidFill>
          <a:ln/>
        </p:spPr>
      </p:sp>
      <p:sp>
        <p:nvSpPr>
          <p:cNvPr id="19" name="Text 17"/>
          <p:cNvSpPr txBox="1"/>
          <p:nvPr/>
        </p:nvSpPr>
        <p:spPr>
          <a:xfrm>
            <a:off x="777240" y="37764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III</a:t>
            </a:r>
            <a:endParaRPr lang="en-US" sz="1400" dirty="0"/>
          </a:p>
        </p:txBody>
      </p:sp>
      <p:sp>
        <p:nvSpPr>
          <p:cNvPr id="20" name="Text 18"/>
          <p:cNvSpPr txBox="1"/>
          <p:nvPr/>
        </p:nvSpPr>
        <p:spPr>
          <a:xfrm>
            <a:off x="1417320" y="3721608"/>
            <a:ext cx="2743200" cy="292608"/>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Diseño computacional</a:t>
            </a:r>
            <a:endParaRPr lang="en-US" sz="1500" dirty="0"/>
          </a:p>
        </p:txBody>
      </p:sp>
      <p:sp>
        <p:nvSpPr>
          <p:cNvPr id="21" name="Text 19"/>
          <p:cNvSpPr txBox="1"/>
          <p:nvPr/>
        </p:nvSpPr>
        <p:spPr>
          <a:xfrm>
            <a:off x="1417320" y="4023360"/>
            <a:ext cx="2743200" cy="256032"/>
          </a:xfrm>
          <a:prstGeom prst="rect">
            <a:avLst/>
          </a:prstGeom>
          <a:noFill/>
          <a:ln/>
        </p:spPr>
        <p:txBody>
          <a:bodyPr wrap="square" lIns="0" tIns="0" rIns="0" bIns="0" rtlCol="0" anchor="ctr"/>
          <a:lstStyle/>
          <a:p>
            <a:pPr indent="0" marL="0">
              <a:buNone/>
            </a:pPr>
            <a:r>
              <a:rPr lang="en-US" sz="1100" dirty="0">
                <a:solidFill>
                  <a:srgbClr val="7A716A"/>
                </a:solidFill>
                <a:latin typeface="Calibri" pitchFamily="34" charset="0"/>
                <a:ea typeface="Calibri" pitchFamily="34" charset="-122"/>
                <a:cs typeface="Calibri" pitchFamily="34" charset="-120"/>
              </a:rPr>
              <a:t>Formatos 15–17</a:t>
            </a:r>
            <a:endParaRPr lang="en-US" sz="1100" dirty="0"/>
          </a:p>
        </p:txBody>
      </p:sp>
      <p:sp>
        <p:nvSpPr>
          <p:cNvPr id="22" name="Text 20"/>
          <p:cNvSpPr txBox="1"/>
          <p:nvPr/>
        </p:nvSpPr>
        <p:spPr>
          <a:xfrm>
            <a:off x="4297680" y="3822192"/>
            <a:ext cx="5852160" cy="4114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¿Qué requisitos, clases, datos y diagramas lo sostienen?</a:t>
            </a:r>
            <a:endParaRPr lang="en-US" sz="1300" dirty="0"/>
          </a:p>
        </p:txBody>
      </p:sp>
      <p:sp>
        <p:nvSpPr>
          <p:cNvPr id="23" name="Shape 21"/>
          <p:cNvSpPr/>
          <p:nvPr/>
        </p:nvSpPr>
        <p:spPr>
          <a:xfrm>
            <a:off x="548640" y="4535424"/>
            <a:ext cx="11064240" cy="804672"/>
          </a:xfrm>
          <a:prstGeom prst="roundRect">
            <a:avLst>
              <a:gd name="adj" fmla="val 9091"/>
            </a:avLst>
          </a:prstGeom>
          <a:solidFill>
            <a:srgbClr val="F6F3EF"/>
          </a:solidFill>
          <a:ln w="12700">
            <a:solidFill>
              <a:srgbClr val="EDE8E1"/>
            </a:solidFill>
            <a:prstDash val="solid"/>
          </a:ln>
        </p:spPr>
      </p:sp>
      <p:sp>
        <p:nvSpPr>
          <p:cNvPr id="24" name="Shape 22"/>
          <p:cNvSpPr/>
          <p:nvPr/>
        </p:nvSpPr>
        <p:spPr>
          <a:xfrm>
            <a:off x="777240" y="4709160"/>
            <a:ext cx="457200" cy="457200"/>
          </a:xfrm>
          <a:prstGeom prst="ellipse">
            <a:avLst/>
          </a:prstGeom>
          <a:solidFill>
            <a:srgbClr val="7A716A"/>
          </a:solidFill>
          <a:ln/>
        </p:spPr>
      </p:sp>
      <p:sp>
        <p:nvSpPr>
          <p:cNvPr id="25" name="Text 23"/>
          <p:cNvSpPr txBox="1"/>
          <p:nvPr/>
        </p:nvSpPr>
        <p:spPr>
          <a:xfrm>
            <a:off x="777240" y="4709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IV</a:t>
            </a:r>
            <a:endParaRPr lang="en-US" sz="1400" dirty="0"/>
          </a:p>
        </p:txBody>
      </p:sp>
      <p:sp>
        <p:nvSpPr>
          <p:cNvPr id="26" name="Text 24"/>
          <p:cNvSpPr txBox="1"/>
          <p:nvPr/>
        </p:nvSpPr>
        <p:spPr>
          <a:xfrm>
            <a:off x="1417320" y="4654296"/>
            <a:ext cx="2743200" cy="292608"/>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Producción</a:t>
            </a:r>
            <a:endParaRPr lang="en-US" sz="1500" dirty="0"/>
          </a:p>
        </p:txBody>
      </p:sp>
      <p:sp>
        <p:nvSpPr>
          <p:cNvPr id="27" name="Text 25"/>
          <p:cNvSpPr txBox="1"/>
          <p:nvPr/>
        </p:nvSpPr>
        <p:spPr>
          <a:xfrm>
            <a:off x="1417320" y="4956048"/>
            <a:ext cx="2743200" cy="256032"/>
          </a:xfrm>
          <a:prstGeom prst="rect">
            <a:avLst/>
          </a:prstGeom>
          <a:noFill/>
          <a:ln/>
        </p:spPr>
        <p:txBody>
          <a:bodyPr wrap="square" lIns="0" tIns="0" rIns="0" bIns="0" rtlCol="0" anchor="ctr"/>
          <a:lstStyle/>
          <a:p>
            <a:pPr indent="0" marL="0">
              <a:buNone/>
            </a:pPr>
            <a:r>
              <a:rPr lang="en-US" sz="1100" dirty="0">
                <a:solidFill>
                  <a:srgbClr val="7A716A"/>
                </a:solidFill>
                <a:latin typeface="Calibri" pitchFamily="34" charset="0"/>
                <a:ea typeface="Calibri" pitchFamily="34" charset="-122"/>
                <a:cs typeface="Calibri" pitchFamily="34" charset="-120"/>
              </a:rPr>
              <a:t>Juicio de expertos</a:t>
            </a:r>
            <a:endParaRPr lang="en-US" sz="1100" dirty="0"/>
          </a:p>
        </p:txBody>
      </p:sp>
      <p:sp>
        <p:nvSpPr>
          <p:cNvPr id="28" name="Text 26"/>
          <p:cNvSpPr txBox="1"/>
          <p:nvPr/>
        </p:nvSpPr>
        <p:spPr>
          <a:xfrm>
            <a:off x="4297680" y="4754880"/>
            <a:ext cx="5852160" cy="4114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¿Cómo se construye, se prueba con expertos y se documenta?</a:t>
            </a:r>
            <a:endParaRPr lang="en-US" sz="1300" dirty="0"/>
          </a:p>
        </p:txBody>
      </p:sp>
      <p:sp>
        <p:nvSpPr>
          <p:cNvPr id="29" name="Shape 27"/>
          <p:cNvSpPr/>
          <p:nvPr/>
        </p:nvSpPr>
        <p:spPr>
          <a:xfrm>
            <a:off x="548640" y="5468112"/>
            <a:ext cx="11064240" cy="804672"/>
          </a:xfrm>
          <a:prstGeom prst="roundRect">
            <a:avLst>
              <a:gd name="adj" fmla="val 9091"/>
            </a:avLst>
          </a:prstGeom>
          <a:solidFill>
            <a:srgbClr val="F6F3EF"/>
          </a:solidFill>
          <a:ln w="12700">
            <a:solidFill>
              <a:srgbClr val="EDE8E1"/>
            </a:solidFill>
            <a:prstDash val="solid"/>
          </a:ln>
        </p:spPr>
      </p:sp>
      <p:sp>
        <p:nvSpPr>
          <p:cNvPr id="30" name="Shape 28"/>
          <p:cNvSpPr/>
          <p:nvPr/>
        </p:nvSpPr>
        <p:spPr>
          <a:xfrm>
            <a:off x="777240" y="5641848"/>
            <a:ext cx="457200" cy="457200"/>
          </a:xfrm>
          <a:prstGeom prst="ellipse">
            <a:avLst/>
          </a:prstGeom>
          <a:solidFill>
            <a:srgbClr val="7A716A"/>
          </a:solidFill>
          <a:ln/>
        </p:spPr>
      </p:sp>
      <p:sp>
        <p:nvSpPr>
          <p:cNvPr id="31" name="Text 29"/>
          <p:cNvSpPr txBox="1"/>
          <p:nvPr/>
        </p:nvSpPr>
        <p:spPr>
          <a:xfrm>
            <a:off x="777240" y="5641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t>
            </a:r>
            <a:endParaRPr lang="en-US" sz="1400" dirty="0"/>
          </a:p>
        </p:txBody>
      </p:sp>
      <p:sp>
        <p:nvSpPr>
          <p:cNvPr id="32" name="Text 30"/>
          <p:cNvSpPr txBox="1"/>
          <p:nvPr/>
        </p:nvSpPr>
        <p:spPr>
          <a:xfrm>
            <a:off x="1417320" y="5586984"/>
            <a:ext cx="2743200" cy="292608"/>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Aplicación</a:t>
            </a:r>
            <a:endParaRPr lang="en-US" sz="1500" dirty="0"/>
          </a:p>
        </p:txBody>
      </p:sp>
      <p:sp>
        <p:nvSpPr>
          <p:cNvPr id="33" name="Text 31"/>
          <p:cNvSpPr txBox="1"/>
          <p:nvPr/>
        </p:nvSpPr>
        <p:spPr>
          <a:xfrm>
            <a:off x="1417320" y="5888736"/>
            <a:ext cx="2743200" cy="256032"/>
          </a:xfrm>
          <a:prstGeom prst="rect">
            <a:avLst/>
          </a:prstGeom>
          <a:noFill/>
          <a:ln/>
        </p:spPr>
        <p:txBody>
          <a:bodyPr wrap="square" lIns="0" tIns="0" rIns="0" bIns="0" rtlCol="0" anchor="ctr"/>
          <a:lstStyle/>
          <a:p>
            <a:pPr indent="0" marL="0">
              <a:buNone/>
            </a:pPr>
            <a:r>
              <a:rPr lang="en-US" sz="1100" dirty="0">
                <a:solidFill>
                  <a:srgbClr val="7A716A"/>
                </a:solidFill>
                <a:latin typeface="Calibri" pitchFamily="34" charset="0"/>
                <a:ea typeface="Calibri" pitchFamily="34" charset="-122"/>
                <a:cs typeface="Calibri" pitchFamily="34" charset="-120"/>
              </a:rPr>
              <a:t>Verificación y validación</a:t>
            </a:r>
            <a:endParaRPr lang="en-US" sz="1100" dirty="0"/>
          </a:p>
        </p:txBody>
      </p:sp>
      <p:sp>
        <p:nvSpPr>
          <p:cNvPr id="34" name="Text 32"/>
          <p:cNvSpPr txBox="1"/>
          <p:nvPr/>
        </p:nvSpPr>
        <p:spPr>
          <a:xfrm>
            <a:off x="4297680" y="5687568"/>
            <a:ext cx="5852160" cy="4114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¿Cómo se usa con estudiantes, se valida y se mantiene?</a:t>
            </a:r>
            <a:endParaRPr lang="en-US" sz="1300" dirty="0"/>
          </a:p>
        </p:txBody>
      </p:sp>
      <p:sp>
        <p:nvSpPr>
          <p:cNvPr id="35" name="Text 33"/>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El orden no es negociable: la Fase I alimenta a la II, y la II alimenta a la III.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Qué exige la Fase II — la lista completa</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Esto es lo que debe existir para que la fase se considere cumplida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731520"/>
                <a:gridCol w="2743200"/>
                <a:gridCol w="1371600"/>
                <a:gridCol w="6217920"/>
              </a:tblGrid>
              <a:tr h="384048">
                <a:tc>
                  <a:txBody>
                    <a:bodyPr/>
                    <a:lstStyle/>
                    <a:p>
                      <a:pPr indent="0" marL="0">
                        <a:buNone/>
                      </a:pPr>
                      <a:r>
                        <a:rPr lang="en-US" sz="1250" b="1" dirty="0">
                          <a:solidFill>
                            <a:srgbClr val="2B26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b="1" dirty="0">
                          <a:solidFill>
                            <a:srgbClr val="2B2622"/>
                          </a:solidFill>
                          <a:latin typeface="Calibri" pitchFamily="34" charset="0"/>
                          <a:ea typeface="Calibri" pitchFamily="34" charset="-122"/>
                          <a:cs typeface="Calibri" pitchFamily="34" charset="-120"/>
                        </a:rPr>
                        <a:t>Pieza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b="1" dirty="0">
                          <a:solidFill>
                            <a:srgbClr val="2B2622"/>
                          </a:solidFill>
                          <a:latin typeface="Calibri" pitchFamily="34" charset="0"/>
                          <a:ea typeface="Calibri" pitchFamily="34" charset="-122"/>
                          <a:cs typeface="Calibri" pitchFamily="34" charset="-120"/>
                        </a:rPr>
                        <a:t>Formato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b="1" dirty="0">
                          <a:solidFill>
                            <a:srgbClr val="2B2622"/>
                          </a:solidFill>
                          <a:latin typeface="Calibri" pitchFamily="34" charset="0"/>
                          <a:ea typeface="Calibri" pitchFamily="34" charset="-122"/>
                          <a:cs typeface="Calibri" pitchFamily="34" charset="-120"/>
                        </a:rPr>
                        <a:t>Qué debe contener</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Diagrama de contenidos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Gráfico 1</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Mentefacto, mapa conceptual o mapa mental</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Guión didáctico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Formato 10</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Título, sinopsis, finalidad, objetivos, valores y población</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3.2</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Guión técnico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Formato 11</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Texto, imagen y sonido: descripción, formato/fuente, acción y evento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3.2.3</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Recursos multimedia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Selección y producción de audio y video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3.3</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Ventana estándar</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Formato 12</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Ventana modelo explicada por secciones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3.3.1</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Descripción de ventanas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Formato 13</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Las 7 categorías, ventana por ventana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3.3.2</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Guía de metáforas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Formato 14</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Nombre, imagen y descripción de cada icono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3.3.3</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Mapa de navegación</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Gráfico 2</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Esquema de enlace entre todas las ventanas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Fuente: DDS3-01.pdf §3 y libro MODESEC (2012), capítulo 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Dónde está STIRE hoy</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Semáforo por fase — lo verde es lo que se puede sustentar con formatos en la mano</a:t>
            </a:r>
            <a:endParaRPr lang="en-US" sz="1400" dirty="0"/>
          </a:p>
        </p:txBody>
      </p:sp>
      <p:sp>
        <p:nvSpPr>
          <p:cNvPr id="4" name="Shape 2"/>
          <p:cNvSpPr/>
          <p:nvPr/>
        </p:nvSpPr>
        <p:spPr>
          <a:xfrm>
            <a:off x="548640" y="1783080"/>
            <a:ext cx="11064240" cy="804672"/>
          </a:xfrm>
          <a:prstGeom prst="roundRect">
            <a:avLst>
              <a:gd name="adj" fmla="val 9091"/>
            </a:avLst>
          </a:prstGeom>
          <a:solidFill>
            <a:srgbClr val="F6F3EF"/>
          </a:solidFill>
          <a:ln w="12700">
            <a:solidFill>
              <a:srgbClr val="EDE8E1"/>
            </a:solidFill>
            <a:prstDash val="solid"/>
          </a:ln>
        </p:spPr>
      </p:sp>
      <p:sp>
        <p:nvSpPr>
          <p:cNvPr id="5" name="Text 3"/>
          <p:cNvSpPr txBox="1"/>
          <p:nvPr/>
        </p:nvSpPr>
        <p:spPr>
          <a:xfrm>
            <a:off x="868680" y="1892808"/>
            <a:ext cx="1463040" cy="292608"/>
          </a:xfrm>
          <a:prstGeom prst="rect">
            <a:avLst/>
          </a:prstGeom>
          <a:noFill/>
          <a:ln/>
        </p:spPr>
        <p:txBody>
          <a:bodyPr wrap="square" lIns="0" tIns="0" rIns="0" bIns="0" rtlCol="0" anchor="ctr"/>
          <a:lstStyle/>
          <a:p>
            <a:pPr indent="0" marL="0">
              <a:buNone/>
            </a:pPr>
            <a:r>
              <a:rPr lang="en-US" sz="1300" b="1" dirty="0">
                <a:solidFill>
                  <a:srgbClr val="C87B1E"/>
                </a:solidFill>
                <a:latin typeface="Calibri" pitchFamily="34" charset="0"/>
                <a:ea typeface="Calibri" pitchFamily="34" charset="-122"/>
                <a:cs typeface="Calibri" pitchFamily="34" charset="-120"/>
              </a:rPr>
              <a:t>FASE I</a:t>
            </a:r>
            <a:endParaRPr lang="en-US" sz="1300" dirty="0"/>
          </a:p>
        </p:txBody>
      </p:sp>
      <p:sp>
        <p:nvSpPr>
          <p:cNvPr id="6" name="Text 4"/>
          <p:cNvSpPr txBox="1"/>
          <p:nvPr/>
        </p:nvSpPr>
        <p:spPr>
          <a:xfrm>
            <a:off x="868680" y="2194560"/>
            <a:ext cx="2377440" cy="25603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Diseño educativo</a:t>
            </a:r>
            <a:endParaRPr lang="en-US" sz="1150" dirty="0"/>
          </a:p>
        </p:txBody>
      </p:sp>
      <p:sp>
        <p:nvSpPr>
          <p:cNvPr id="7" name="Shape 5"/>
          <p:cNvSpPr/>
          <p:nvPr/>
        </p:nvSpPr>
        <p:spPr>
          <a:xfrm>
            <a:off x="3383280" y="2002536"/>
            <a:ext cx="1417320" cy="365760"/>
          </a:xfrm>
          <a:prstGeom prst="roundRect">
            <a:avLst>
              <a:gd name="adj" fmla="val 15000"/>
            </a:avLst>
          </a:prstGeom>
          <a:solidFill>
            <a:srgbClr val="B85042"/>
          </a:solidFill>
          <a:ln/>
        </p:spPr>
      </p:sp>
      <p:sp>
        <p:nvSpPr>
          <p:cNvPr id="8" name="Text 6"/>
          <p:cNvSpPr txBox="1"/>
          <p:nvPr/>
        </p:nvSpPr>
        <p:spPr>
          <a:xfrm>
            <a:off x="3383280" y="2002536"/>
            <a:ext cx="14173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PARCIAL</a:t>
            </a:r>
            <a:endParaRPr lang="en-US" sz="1050" dirty="0"/>
          </a:p>
        </p:txBody>
      </p:sp>
      <p:sp>
        <p:nvSpPr>
          <p:cNvPr id="9" name="Text 7"/>
          <p:cNvSpPr txBox="1"/>
          <p:nvPr/>
        </p:nvSpPr>
        <p:spPr>
          <a:xfrm>
            <a:off x="5029200" y="2002536"/>
            <a:ext cx="6309360" cy="38404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El trabajo existe, pero en formato de ingeniería, no en los formatos 1–9</a:t>
            </a:r>
            <a:endParaRPr lang="en-US" sz="1250" dirty="0"/>
          </a:p>
        </p:txBody>
      </p:sp>
      <p:sp>
        <p:nvSpPr>
          <p:cNvPr id="10" name="Shape 8"/>
          <p:cNvSpPr/>
          <p:nvPr/>
        </p:nvSpPr>
        <p:spPr>
          <a:xfrm>
            <a:off x="548640" y="2715768"/>
            <a:ext cx="11064240" cy="804672"/>
          </a:xfrm>
          <a:prstGeom prst="roundRect">
            <a:avLst>
              <a:gd name="adj" fmla="val 9091"/>
            </a:avLst>
          </a:prstGeom>
          <a:solidFill>
            <a:srgbClr val="EDE8E1"/>
          </a:solidFill>
          <a:ln w="12700">
            <a:solidFill>
              <a:srgbClr val="EDE8E1"/>
            </a:solidFill>
            <a:prstDash val="solid"/>
          </a:ln>
        </p:spPr>
      </p:sp>
      <p:sp>
        <p:nvSpPr>
          <p:cNvPr id="11" name="Text 9"/>
          <p:cNvSpPr txBox="1"/>
          <p:nvPr/>
        </p:nvSpPr>
        <p:spPr>
          <a:xfrm>
            <a:off x="868680" y="2825496"/>
            <a:ext cx="1463040" cy="292608"/>
          </a:xfrm>
          <a:prstGeom prst="rect">
            <a:avLst/>
          </a:prstGeom>
          <a:noFill/>
          <a:ln/>
        </p:spPr>
        <p:txBody>
          <a:bodyPr wrap="square" lIns="0" tIns="0" rIns="0" bIns="0" rtlCol="0" anchor="ctr"/>
          <a:lstStyle/>
          <a:p>
            <a:pPr indent="0" marL="0">
              <a:buNone/>
            </a:pPr>
            <a:r>
              <a:rPr lang="en-US" sz="1300" b="1" dirty="0">
                <a:solidFill>
                  <a:srgbClr val="C87B1E"/>
                </a:solidFill>
                <a:latin typeface="Calibri" pitchFamily="34" charset="0"/>
                <a:ea typeface="Calibri" pitchFamily="34" charset="-122"/>
                <a:cs typeface="Calibri" pitchFamily="34" charset="-120"/>
              </a:rPr>
              <a:t>FASE II</a:t>
            </a:r>
            <a:endParaRPr lang="en-US" sz="1300" dirty="0"/>
          </a:p>
        </p:txBody>
      </p:sp>
      <p:sp>
        <p:nvSpPr>
          <p:cNvPr id="12" name="Text 10"/>
          <p:cNvSpPr txBox="1"/>
          <p:nvPr/>
        </p:nvSpPr>
        <p:spPr>
          <a:xfrm>
            <a:off x="868680" y="3127248"/>
            <a:ext cx="2377440" cy="25603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Diseño multimedial</a:t>
            </a:r>
            <a:endParaRPr lang="en-US" sz="1150" dirty="0"/>
          </a:p>
        </p:txBody>
      </p:sp>
      <p:sp>
        <p:nvSpPr>
          <p:cNvPr id="13" name="Shape 11"/>
          <p:cNvSpPr/>
          <p:nvPr/>
        </p:nvSpPr>
        <p:spPr>
          <a:xfrm>
            <a:off x="3383280" y="2935224"/>
            <a:ext cx="1417320" cy="365760"/>
          </a:xfrm>
          <a:prstGeom prst="roundRect">
            <a:avLst>
              <a:gd name="adj" fmla="val 15000"/>
            </a:avLst>
          </a:prstGeom>
          <a:solidFill>
            <a:srgbClr val="2F7D4F"/>
          </a:solidFill>
          <a:ln/>
        </p:spPr>
      </p:sp>
      <p:sp>
        <p:nvSpPr>
          <p:cNvPr id="14" name="Text 12"/>
          <p:cNvSpPr txBox="1"/>
          <p:nvPr/>
        </p:nvSpPr>
        <p:spPr>
          <a:xfrm>
            <a:off x="3383280" y="2935224"/>
            <a:ext cx="14173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COMPLETA</a:t>
            </a:r>
            <a:endParaRPr lang="en-US" sz="1050" dirty="0"/>
          </a:p>
        </p:txBody>
      </p:sp>
      <p:sp>
        <p:nvSpPr>
          <p:cNvPr id="15" name="Text 13"/>
          <p:cNvSpPr txBox="1"/>
          <p:nvPr/>
        </p:nvSpPr>
        <p:spPr>
          <a:xfrm>
            <a:off x="5029200" y="2935224"/>
            <a:ext cx="6309360" cy="38404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§3.1 a §3.3.3 · 5 formatos · 10 gráficos producidos</a:t>
            </a:r>
            <a:endParaRPr lang="en-US" sz="1250" dirty="0"/>
          </a:p>
        </p:txBody>
      </p:sp>
      <p:sp>
        <p:nvSpPr>
          <p:cNvPr id="16" name="Shape 14"/>
          <p:cNvSpPr/>
          <p:nvPr/>
        </p:nvSpPr>
        <p:spPr>
          <a:xfrm>
            <a:off x="548640" y="3648456"/>
            <a:ext cx="11064240" cy="804672"/>
          </a:xfrm>
          <a:prstGeom prst="roundRect">
            <a:avLst>
              <a:gd name="adj" fmla="val 9091"/>
            </a:avLst>
          </a:prstGeom>
          <a:solidFill>
            <a:srgbClr val="F6F3EF"/>
          </a:solidFill>
          <a:ln w="12700">
            <a:solidFill>
              <a:srgbClr val="EDE8E1"/>
            </a:solidFill>
            <a:prstDash val="solid"/>
          </a:ln>
        </p:spPr>
      </p:sp>
      <p:sp>
        <p:nvSpPr>
          <p:cNvPr id="17" name="Text 15"/>
          <p:cNvSpPr txBox="1"/>
          <p:nvPr/>
        </p:nvSpPr>
        <p:spPr>
          <a:xfrm>
            <a:off x="868680" y="3758184"/>
            <a:ext cx="1463040" cy="292608"/>
          </a:xfrm>
          <a:prstGeom prst="rect">
            <a:avLst/>
          </a:prstGeom>
          <a:noFill/>
          <a:ln/>
        </p:spPr>
        <p:txBody>
          <a:bodyPr wrap="square" lIns="0" tIns="0" rIns="0" bIns="0" rtlCol="0" anchor="ctr"/>
          <a:lstStyle/>
          <a:p>
            <a:pPr indent="0" marL="0">
              <a:buNone/>
            </a:pPr>
            <a:r>
              <a:rPr lang="en-US" sz="1300" b="1" dirty="0">
                <a:solidFill>
                  <a:srgbClr val="C87B1E"/>
                </a:solidFill>
                <a:latin typeface="Calibri" pitchFamily="34" charset="0"/>
                <a:ea typeface="Calibri" pitchFamily="34" charset="-122"/>
                <a:cs typeface="Calibri" pitchFamily="34" charset="-120"/>
              </a:rPr>
              <a:t>FASE III</a:t>
            </a:r>
            <a:endParaRPr lang="en-US" sz="1300" dirty="0"/>
          </a:p>
        </p:txBody>
      </p:sp>
      <p:sp>
        <p:nvSpPr>
          <p:cNvPr id="18" name="Text 16"/>
          <p:cNvSpPr txBox="1"/>
          <p:nvPr/>
        </p:nvSpPr>
        <p:spPr>
          <a:xfrm>
            <a:off x="868680" y="4059936"/>
            <a:ext cx="2377440" cy="25603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Diseño computacional</a:t>
            </a:r>
            <a:endParaRPr lang="en-US" sz="1150" dirty="0"/>
          </a:p>
        </p:txBody>
      </p:sp>
      <p:sp>
        <p:nvSpPr>
          <p:cNvPr id="19" name="Shape 17"/>
          <p:cNvSpPr/>
          <p:nvPr/>
        </p:nvSpPr>
        <p:spPr>
          <a:xfrm>
            <a:off x="3383280" y="3867912"/>
            <a:ext cx="1417320" cy="365760"/>
          </a:xfrm>
          <a:prstGeom prst="roundRect">
            <a:avLst>
              <a:gd name="adj" fmla="val 15000"/>
            </a:avLst>
          </a:prstGeom>
          <a:solidFill>
            <a:srgbClr val="B85042"/>
          </a:solidFill>
          <a:ln/>
        </p:spPr>
      </p:sp>
      <p:sp>
        <p:nvSpPr>
          <p:cNvPr id="20" name="Text 18"/>
          <p:cNvSpPr txBox="1"/>
          <p:nvPr/>
        </p:nvSpPr>
        <p:spPr>
          <a:xfrm>
            <a:off x="3383280" y="3867912"/>
            <a:ext cx="14173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PARCIAL</a:t>
            </a:r>
            <a:endParaRPr lang="en-US" sz="1050" dirty="0"/>
          </a:p>
        </p:txBody>
      </p:sp>
      <p:sp>
        <p:nvSpPr>
          <p:cNvPr id="21" name="Text 19"/>
          <p:cNvSpPr txBox="1"/>
          <p:nvPr/>
        </p:nvSpPr>
        <p:spPr>
          <a:xfrm>
            <a:off x="5029200" y="3867912"/>
            <a:ext cx="6309360" cy="38404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Requisitos y diagramas existen; falta rotularlos como MODESEC</a:t>
            </a:r>
            <a:endParaRPr lang="en-US" sz="1250" dirty="0"/>
          </a:p>
        </p:txBody>
      </p:sp>
      <p:sp>
        <p:nvSpPr>
          <p:cNvPr id="22" name="Shape 20"/>
          <p:cNvSpPr/>
          <p:nvPr/>
        </p:nvSpPr>
        <p:spPr>
          <a:xfrm>
            <a:off x="548640" y="4581144"/>
            <a:ext cx="11064240" cy="804672"/>
          </a:xfrm>
          <a:prstGeom prst="roundRect">
            <a:avLst>
              <a:gd name="adj" fmla="val 9091"/>
            </a:avLst>
          </a:prstGeom>
          <a:solidFill>
            <a:srgbClr val="F6F3EF"/>
          </a:solidFill>
          <a:ln w="12700">
            <a:solidFill>
              <a:srgbClr val="EDE8E1"/>
            </a:solidFill>
            <a:prstDash val="solid"/>
          </a:ln>
        </p:spPr>
      </p:sp>
      <p:sp>
        <p:nvSpPr>
          <p:cNvPr id="23" name="Text 21"/>
          <p:cNvSpPr txBox="1"/>
          <p:nvPr/>
        </p:nvSpPr>
        <p:spPr>
          <a:xfrm>
            <a:off x="868680" y="4690872"/>
            <a:ext cx="1463040" cy="292608"/>
          </a:xfrm>
          <a:prstGeom prst="rect">
            <a:avLst/>
          </a:prstGeom>
          <a:noFill/>
          <a:ln/>
        </p:spPr>
        <p:txBody>
          <a:bodyPr wrap="square" lIns="0" tIns="0" rIns="0" bIns="0" rtlCol="0" anchor="ctr"/>
          <a:lstStyle/>
          <a:p>
            <a:pPr indent="0" marL="0">
              <a:buNone/>
            </a:pPr>
            <a:r>
              <a:rPr lang="en-US" sz="1300" b="1" dirty="0">
                <a:solidFill>
                  <a:srgbClr val="C87B1E"/>
                </a:solidFill>
                <a:latin typeface="Calibri" pitchFamily="34" charset="0"/>
                <a:ea typeface="Calibri" pitchFamily="34" charset="-122"/>
                <a:cs typeface="Calibri" pitchFamily="34" charset="-120"/>
              </a:rPr>
              <a:t>FASE IV</a:t>
            </a:r>
            <a:endParaRPr lang="en-US" sz="1300" dirty="0"/>
          </a:p>
        </p:txBody>
      </p:sp>
      <p:sp>
        <p:nvSpPr>
          <p:cNvPr id="24" name="Text 22"/>
          <p:cNvSpPr txBox="1"/>
          <p:nvPr/>
        </p:nvSpPr>
        <p:spPr>
          <a:xfrm>
            <a:off x="868680" y="4992624"/>
            <a:ext cx="2377440" cy="25603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Producción</a:t>
            </a:r>
            <a:endParaRPr lang="en-US" sz="1150" dirty="0"/>
          </a:p>
        </p:txBody>
      </p:sp>
      <p:sp>
        <p:nvSpPr>
          <p:cNvPr id="25" name="Shape 23"/>
          <p:cNvSpPr/>
          <p:nvPr/>
        </p:nvSpPr>
        <p:spPr>
          <a:xfrm>
            <a:off x="3383280" y="4800600"/>
            <a:ext cx="1417320" cy="365760"/>
          </a:xfrm>
          <a:prstGeom prst="roundRect">
            <a:avLst>
              <a:gd name="adj" fmla="val 15000"/>
            </a:avLst>
          </a:prstGeom>
          <a:solidFill>
            <a:srgbClr val="7A716A"/>
          </a:solidFill>
          <a:ln/>
        </p:spPr>
      </p:sp>
      <p:sp>
        <p:nvSpPr>
          <p:cNvPr id="26" name="Text 24"/>
          <p:cNvSpPr txBox="1"/>
          <p:nvPr/>
        </p:nvSpPr>
        <p:spPr>
          <a:xfrm>
            <a:off x="3383280" y="4800600"/>
            <a:ext cx="14173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ABIERTA</a:t>
            </a:r>
            <a:endParaRPr lang="en-US" sz="1050" dirty="0"/>
          </a:p>
        </p:txBody>
      </p:sp>
      <p:sp>
        <p:nvSpPr>
          <p:cNvPr id="27" name="Text 25"/>
          <p:cNvSpPr txBox="1"/>
          <p:nvPr/>
        </p:nvSpPr>
        <p:spPr>
          <a:xfrm>
            <a:off x="5029200" y="4800600"/>
            <a:ext cx="6309360" cy="38404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Falta juicio de expertos, prueba modelo y manual de usuario</a:t>
            </a:r>
            <a:endParaRPr lang="en-US" sz="1250" dirty="0"/>
          </a:p>
        </p:txBody>
      </p:sp>
      <p:sp>
        <p:nvSpPr>
          <p:cNvPr id="28" name="Shape 26"/>
          <p:cNvSpPr/>
          <p:nvPr/>
        </p:nvSpPr>
        <p:spPr>
          <a:xfrm>
            <a:off x="548640" y="5513832"/>
            <a:ext cx="11064240" cy="804672"/>
          </a:xfrm>
          <a:prstGeom prst="roundRect">
            <a:avLst>
              <a:gd name="adj" fmla="val 9091"/>
            </a:avLst>
          </a:prstGeom>
          <a:solidFill>
            <a:srgbClr val="F6F3EF"/>
          </a:solidFill>
          <a:ln w="12700">
            <a:solidFill>
              <a:srgbClr val="EDE8E1"/>
            </a:solidFill>
            <a:prstDash val="solid"/>
          </a:ln>
        </p:spPr>
      </p:sp>
      <p:sp>
        <p:nvSpPr>
          <p:cNvPr id="29" name="Text 27"/>
          <p:cNvSpPr txBox="1"/>
          <p:nvPr/>
        </p:nvSpPr>
        <p:spPr>
          <a:xfrm>
            <a:off x="868680" y="5623560"/>
            <a:ext cx="1463040" cy="292608"/>
          </a:xfrm>
          <a:prstGeom prst="rect">
            <a:avLst/>
          </a:prstGeom>
          <a:noFill/>
          <a:ln/>
        </p:spPr>
        <p:txBody>
          <a:bodyPr wrap="square" lIns="0" tIns="0" rIns="0" bIns="0" rtlCol="0" anchor="ctr"/>
          <a:lstStyle/>
          <a:p>
            <a:pPr indent="0" marL="0">
              <a:buNone/>
            </a:pPr>
            <a:r>
              <a:rPr lang="en-US" sz="1300" b="1" dirty="0">
                <a:solidFill>
                  <a:srgbClr val="C87B1E"/>
                </a:solidFill>
                <a:latin typeface="Calibri" pitchFamily="34" charset="0"/>
                <a:ea typeface="Calibri" pitchFamily="34" charset="-122"/>
                <a:cs typeface="Calibri" pitchFamily="34" charset="-120"/>
              </a:rPr>
              <a:t>FASE V</a:t>
            </a:r>
            <a:endParaRPr lang="en-US" sz="1300" dirty="0"/>
          </a:p>
        </p:txBody>
      </p:sp>
      <p:sp>
        <p:nvSpPr>
          <p:cNvPr id="30" name="Text 28"/>
          <p:cNvSpPr txBox="1"/>
          <p:nvPr/>
        </p:nvSpPr>
        <p:spPr>
          <a:xfrm>
            <a:off x="868680" y="5925312"/>
            <a:ext cx="2377440" cy="25603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Aplicación</a:t>
            </a:r>
            <a:endParaRPr lang="en-US" sz="1150" dirty="0"/>
          </a:p>
        </p:txBody>
      </p:sp>
      <p:sp>
        <p:nvSpPr>
          <p:cNvPr id="31" name="Shape 29"/>
          <p:cNvSpPr/>
          <p:nvPr/>
        </p:nvSpPr>
        <p:spPr>
          <a:xfrm>
            <a:off x="3383280" y="5733288"/>
            <a:ext cx="1417320" cy="365760"/>
          </a:xfrm>
          <a:prstGeom prst="roundRect">
            <a:avLst>
              <a:gd name="adj" fmla="val 15000"/>
            </a:avLst>
          </a:prstGeom>
          <a:solidFill>
            <a:srgbClr val="7A716A"/>
          </a:solidFill>
          <a:ln/>
        </p:spPr>
      </p:sp>
      <p:sp>
        <p:nvSpPr>
          <p:cNvPr id="32" name="Text 30"/>
          <p:cNvSpPr txBox="1"/>
          <p:nvPr/>
        </p:nvSpPr>
        <p:spPr>
          <a:xfrm>
            <a:off x="3383280" y="5733288"/>
            <a:ext cx="141732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NO INICIADA</a:t>
            </a:r>
            <a:endParaRPr lang="en-US" sz="1050" dirty="0"/>
          </a:p>
        </p:txBody>
      </p:sp>
      <p:sp>
        <p:nvSpPr>
          <p:cNvPr id="33" name="Text 31"/>
          <p:cNvSpPr txBox="1"/>
          <p:nvPr/>
        </p:nvSpPr>
        <p:spPr>
          <a:xfrm>
            <a:off x="5029200" y="5733288"/>
            <a:ext cx="6309360" cy="38404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Verificación, validación y mantenimiento</a:t>
            </a:r>
            <a:endParaRPr lang="en-US" sz="1250" dirty="0"/>
          </a:p>
        </p:txBody>
      </p:sp>
      <p:sp>
        <p:nvSpPr>
          <p:cNvPr id="34" name="Text 32"/>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La Fase I es el hueco real: sin ella no se puede demostrar la trazabilidad competencia → contenido → ventana.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Lo que le faltaba a nuestro MODESEC</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Diagnóstico y qué se produjo para cerrarlo</a:t>
            </a:r>
            <a:endParaRPr lang="en-US" sz="1400" dirty="0"/>
          </a:p>
        </p:txBody>
      </p:sp>
      <p:sp>
        <p:nvSpPr>
          <p:cNvPr id="4" name="Shape 2"/>
          <p:cNvSpPr/>
          <p:nvPr/>
        </p:nvSpPr>
        <p:spPr>
          <a:xfrm>
            <a:off x="548640" y="1645920"/>
            <a:ext cx="11064240" cy="804672"/>
          </a:xfrm>
          <a:prstGeom prst="roundRect">
            <a:avLst>
              <a:gd name="adj" fmla="val 9091"/>
            </a:avLst>
          </a:prstGeom>
          <a:solidFill>
            <a:srgbClr val="FFFFFF"/>
          </a:solidFill>
          <a:ln w="12700">
            <a:solidFill>
              <a:srgbClr val="EDE8E1"/>
            </a:solidFill>
            <a:prstDash val="solid"/>
          </a:ln>
        </p:spPr>
      </p:sp>
      <p:sp>
        <p:nvSpPr>
          <p:cNvPr id="5" name="Text 3"/>
          <p:cNvSpPr txBox="1"/>
          <p:nvPr/>
        </p:nvSpPr>
        <p:spPr>
          <a:xfrm>
            <a:off x="822960" y="1737360"/>
            <a:ext cx="3017520" cy="32004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§3.2 Guión técnico multimedial</a:t>
            </a:r>
            <a:endParaRPr lang="en-US" sz="1350" dirty="0"/>
          </a:p>
        </p:txBody>
      </p:sp>
      <p:sp>
        <p:nvSpPr>
          <p:cNvPr id="6" name="Text 4"/>
          <p:cNvSpPr txBox="1"/>
          <p:nvPr/>
        </p:nvSpPr>
        <p:spPr>
          <a:xfrm>
            <a:off x="822960" y="2057400"/>
            <a:ext cx="3200400" cy="36576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No existía. La guía del estudiante lo exige explícitamente.</a:t>
            </a:r>
            <a:endParaRPr lang="en-US" sz="1050" dirty="0"/>
          </a:p>
        </p:txBody>
      </p:sp>
      <p:sp>
        <p:nvSpPr>
          <p:cNvPr id="7" name="Shape 5"/>
          <p:cNvSpPr/>
          <p:nvPr/>
        </p:nvSpPr>
        <p:spPr>
          <a:xfrm>
            <a:off x="4206240" y="1901952"/>
            <a:ext cx="329184" cy="329184"/>
          </a:xfrm>
          <a:prstGeom prst="ellipse">
            <a:avLst/>
          </a:prstGeom>
          <a:solidFill>
            <a:srgbClr val="2F7D4F"/>
          </a:solidFill>
          <a:ln/>
        </p:spPr>
      </p:sp>
      <p:sp>
        <p:nvSpPr>
          <p:cNvPr id="8" name="Text 6"/>
          <p:cNvSpPr txBox="1"/>
          <p:nvPr/>
        </p:nvSpPr>
        <p:spPr>
          <a:xfrm>
            <a:off x="4206240" y="19019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4754880" y="1883664"/>
            <a:ext cx="6583680" cy="4114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Formatos 10 y 11 completos, con guión de cada una de las 6 ventanas</a:t>
            </a:r>
            <a:endParaRPr lang="en-US" sz="1250" dirty="0"/>
          </a:p>
        </p:txBody>
      </p:sp>
      <p:sp>
        <p:nvSpPr>
          <p:cNvPr id="10" name="Shape 8"/>
          <p:cNvSpPr/>
          <p:nvPr/>
        </p:nvSpPr>
        <p:spPr>
          <a:xfrm>
            <a:off x="548640" y="2560320"/>
            <a:ext cx="11064240" cy="804672"/>
          </a:xfrm>
          <a:prstGeom prst="roundRect">
            <a:avLst>
              <a:gd name="adj" fmla="val 9091"/>
            </a:avLst>
          </a:prstGeom>
          <a:solidFill>
            <a:srgbClr val="FFFFFF"/>
          </a:solidFill>
          <a:ln w="12700">
            <a:solidFill>
              <a:srgbClr val="EDE8E1"/>
            </a:solidFill>
            <a:prstDash val="solid"/>
          </a:ln>
        </p:spPr>
      </p:sp>
      <p:sp>
        <p:nvSpPr>
          <p:cNvPr id="11" name="Text 9"/>
          <p:cNvSpPr txBox="1"/>
          <p:nvPr/>
        </p:nvSpPr>
        <p:spPr>
          <a:xfrm>
            <a:off x="822960" y="2651760"/>
            <a:ext cx="3017520" cy="32004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§3.3.3 Mapa de navegación</a:t>
            </a:r>
            <a:endParaRPr lang="en-US" sz="1350" dirty="0"/>
          </a:p>
        </p:txBody>
      </p:sp>
      <p:sp>
        <p:nvSpPr>
          <p:cNvPr id="12" name="Text 10"/>
          <p:cNvSpPr txBox="1"/>
          <p:nvPr/>
        </p:nvSpPr>
        <p:spPr>
          <a:xfrm>
            <a:off x="822960" y="2971800"/>
            <a:ext cx="3200400" cy="36576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Entregable de la Semana B; sin él las ventanas quedan sueltas.</a:t>
            </a:r>
            <a:endParaRPr lang="en-US" sz="1050" dirty="0"/>
          </a:p>
        </p:txBody>
      </p:sp>
      <p:sp>
        <p:nvSpPr>
          <p:cNvPr id="13" name="Shape 11"/>
          <p:cNvSpPr/>
          <p:nvPr/>
        </p:nvSpPr>
        <p:spPr>
          <a:xfrm>
            <a:off x="4206240" y="2816352"/>
            <a:ext cx="329184" cy="329184"/>
          </a:xfrm>
          <a:prstGeom prst="ellipse">
            <a:avLst/>
          </a:prstGeom>
          <a:solidFill>
            <a:srgbClr val="2F7D4F"/>
          </a:solidFill>
          <a:ln/>
        </p:spPr>
      </p:sp>
      <p:sp>
        <p:nvSpPr>
          <p:cNvPr id="14" name="Text 12"/>
          <p:cNvSpPr txBox="1"/>
          <p:nvPr/>
        </p:nvSpPr>
        <p:spPr>
          <a:xfrm>
            <a:off x="4206240" y="28163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txBox="1"/>
          <p:nvPr/>
        </p:nvSpPr>
        <p:spPr>
          <a:xfrm>
            <a:off x="4754880" y="2798064"/>
            <a:ext cx="6583680" cy="4114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Esquema + tabla de 15 transiciones + 6 reglas verificadas</a:t>
            </a:r>
            <a:endParaRPr lang="en-US" sz="1250" dirty="0"/>
          </a:p>
        </p:txBody>
      </p:sp>
      <p:sp>
        <p:nvSpPr>
          <p:cNvPr id="16" name="Shape 14"/>
          <p:cNvSpPr/>
          <p:nvPr/>
        </p:nvSpPr>
        <p:spPr>
          <a:xfrm>
            <a:off x="548640" y="3474720"/>
            <a:ext cx="11064240" cy="804672"/>
          </a:xfrm>
          <a:prstGeom prst="roundRect">
            <a:avLst>
              <a:gd name="adj" fmla="val 9091"/>
            </a:avLst>
          </a:prstGeom>
          <a:solidFill>
            <a:srgbClr val="FFFFFF"/>
          </a:solidFill>
          <a:ln w="12700">
            <a:solidFill>
              <a:srgbClr val="EDE8E1"/>
            </a:solidFill>
            <a:prstDash val="solid"/>
          </a:ln>
        </p:spPr>
      </p:sp>
      <p:sp>
        <p:nvSpPr>
          <p:cNvPr id="17" name="Text 15"/>
          <p:cNvSpPr txBox="1"/>
          <p:nvPr/>
        </p:nvSpPr>
        <p:spPr>
          <a:xfrm>
            <a:off x="822960" y="3566160"/>
            <a:ext cx="3017520" cy="32004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Los gráficos</a:t>
            </a:r>
            <a:endParaRPr lang="en-US" sz="1350" dirty="0"/>
          </a:p>
        </p:txBody>
      </p:sp>
      <p:sp>
        <p:nvSpPr>
          <p:cNvPr id="18" name="Text 16"/>
          <p:cNvSpPr txBox="1"/>
          <p:nvPr/>
        </p:nvSpPr>
        <p:spPr>
          <a:xfrm>
            <a:off x="822960" y="3886200"/>
            <a:ext cx="3200400" cy="36576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§3.1 y §3.3 son gráficos por definición: en texto no cumplen.</a:t>
            </a:r>
            <a:endParaRPr lang="en-US" sz="1050" dirty="0"/>
          </a:p>
        </p:txBody>
      </p:sp>
      <p:sp>
        <p:nvSpPr>
          <p:cNvPr id="19" name="Shape 17"/>
          <p:cNvSpPr/>
          <p:nvPr/>
        </p:nvSpPr>
        <p:spPr>
          <a:xfrm>
            <a:off x="4206240" y="3730752"/>
            <a:ext cx="329184" cy="329184"/>
          </a:xfrm>
          <a:prstGeom prst="ellipse">
            <a:avLst/>
          </a:prstGeom>
          <a:solidFill>
            <a:srgbClr val="2F7D4F"/>
          </a:solidFill>
          <a:ln/>
        </p:spPr>
      </p:sp>
      <p:sp>
        <p:nvSpPr>
          <p:cNvPr id="20" name="Text 18"/>
          <p:cNvSpPr txBox="1"/>
          <p:nvPr/>
        </p:nvSpPr>
        <p:spPr>
          <a:xfrm>
            <a:off x="4206240" y="37307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4754880" y="3712464"/>
            <a:ext cx="6583680" cy="4114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10 figuras en SVG editable y PNG (diagrama, maquetas, mapa)</a:t>
            </a:r>
            <a:endParaRPr lang="en-US" sz="1250" dirty="0"/>
          </a:p>
        </p:txBody>
      </p:sp>
      <p:sp>
        <p:nvSpPr>
          <p:cNvPr id="22" name="Shape 20"/>
          <p:cNvSpPr/>
          <p:nvPr/>
        </p:nvSpPr>
        <p:spPr>
          <a:xfrm>
            <a:off x="548640" y="4389120"/>
            <a:ext cx="11064240" cy="804672"/>
          </a:xfrm>
          <a:prstGeom prst="roundRect">
            <a:avLst>
              <a:gd name="adj" fmla="val 9091"/>
            </a:avLst>
          </a:prstGeom>
          <a:solidFill>
            <a:srgbClr val="FFFFFF"/>
          </a:solidFill>
          <a:ln w="12700">
            <a:solidFill>
              <a:srgbClr val="EDE8E1"/>
            </a:solidFill>
            <a:prstDash val="solid"/>
          </a:ln>
        </p:spPr>
      </p:sp>
      <p:sp>
        <p:nvSpPr>
          <p:cNvPr id="23" name="Text 21"/>
          <p:cNvSpPr txBox="1"/>
          <p:nvPr/>
        </p:nvSpPr>
        <p:spPr>
          <a:xfrm>
            <a:off x="822960" y="4480560"/>
            <a:ext cx="3017520" cy="32004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La iconografía</a:t>
            </a:r>
            <a:endParaRPr lang="en-US" sz="1350" dirty="0"/>
          </a:p>
        </p:txBody>
      </p:sp>
      <p:sp>
        <p:nvSpPr>
          <p:cNvPr id="24" name="Text 22"/>
          <p:cNvSpPr txBox="1"/>
          <p:nvPr/>
        </p:nvSpPr>
        <p:spPr>
          <a:xfrm>
            <a:off x="822960" y="4800600"/>
            <a:ext cx="3200400" cy="36576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El Formato 14 tiene columna Imagen: no se llena con texto.</a:t>
            </a:r>
            <a:endParaRPr lang="en-US" sz="1050" dirty="0"/>
          </a:p>
        </p:txBody>
      </p:sp>
      <p:sp>
        <p:nvSpPr>
          <p:cNvPr id="25" name="Shape 23"/>
          <p:cNvSpPr/>
          <p:nvPr/>
        </p:nvSpPr>
        <p:spPr>
          <a:xfrm>
            <a:off x="4206240" y="4645152"/>
            <a:ext cx="329184" cy="329184"/>
          </a:xfrm>
          <a:prstGeom prst="ellipse">
            <a:avLst/>
          </a:prstGeom>
          <a:solidFill>
            <a:srgbClr val="2F7D4F"/>
          </a:solidFill>
          <a:ln/>
        </p:spPr>
      </p:sp>
      <p:sp>
        <p:nvSpPr>
          <p:cNvPr id="26" name="Text 24"/>
          <p:cNvSpPr txBox="1"/>
          <p:nvPr/>
        </p:nvSpPr>
        <p:spPr>
          <a:xfrm>
            <a:off x="4206240" y="46451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txBox="1"/>
          <p:nvPr/>
        </p:nvSpPr>
        <p:spPr>
          <a:xfrm>
            <a:off x="4754880" y="4626864"/>
            <a:ext cx="6583680" cy="4114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12 iconos dibujados, uno por metáfora</a:t>
            </a:r>
            <a:endParaRPr lang="en-US" sz="1250" dirty="0"/>
          </a:p>
        </p:txBody>
      </p:sp>
      <p:sp>
        <p:nvSpPr>
          <p:cNvPr id="28" name="Shape 26"/>
          <p:cNvSpPr/>
          <p:nvPr/>
        </p:nvSpPr>
        <p:spPr>
          <a:xfrm>
            <a:off x="548640" y="5303520"/>
            <a:ext cx="11064240" cy="804672"/>
          </a:xfrm>
          <a:prstGeom prst="roundRect">
            <a:avLst>
              <a:gd name="adj" fmla="val 9091"/>
            </a:avLst>
          </a:prstGeom>
          <a:solidFill>
            <a:srgbClr val="FFFFFF"/>
          </a:solidFill>
          <a:ln w="12700">
            <a:solidFill>
              <a:srgbClr val="EDE8E1"/>
            </a:solidFill>
            <a:prstDash val="solid"/>
          </a:ln>
        </p:spPr>
      </p:sp>
      <p:sp>
        <p:nvSpPr>
          <p:cNvPr id="29" name="Text 27"/>
          <p:cNvSpPr txBox="1"/>
          <p:nvPr/>
        </p:nvSpPr>
        <p:spPr>
          <a:xfrm>
            <a:off x="822960" y="5394960"/>
            <a:ext cx="3017520" cy="32004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La organización en Git</a:t>
            </a:r>
            <a:endParaRPr lang="en-US" sz="1350" dirty="0"/>
          </a:p>
        </p:txBody>
      </p:sp>
      <p:sp>
        <p:nvSpPr>
          <p:cNvPr id="30" name="Text 28"/>
          <p:cNvSpPr txBox="1"/>
          <p:nvPr/>
        </p:nvSpPr>
        <p:spPr>
          <a:xfrm>
            <a:off x="822960" y="5715000"/>
            <a:ext cx="3200400" cy="36576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Solo existía la plantilla vacía en el repositorio.</a:t>
            </a:r>
            <a:endParaRPr lang="en-US" sz="1050" dirty="0"/>
          </a:p>
        </p:txBody>
      </p:sp>
      <p:sp>
        <p:nvSpPr>
          <p:cNvPr id="31" name="Shape 29"/>
          <p:cNvSpPr/>
          <p:nvPr/>
        </p:nvSpPr>
        <p:spPr>
          <a:xfrm>
            <a:off x="4206240" y="5559552"/>
            <a:ext cx="329184" cy="329184"/>
          </a:xfrm>
          <a:prstGeom prst="ellipse">
            <a:avLst/>
          </a:prstGeom>
          <a:solidFill>
            <a:srgbClr val="2F7D4F"/>
          </a:solidFill>
          <a:ln/>
        </p:spPr>
      </p:sp>
      <p:sp>
        <p:nvSpPr>
          <p:cNvPr id="32" name="Text 30"/>
          <p:cNvSpPr txBox="1"/>
          <p:nvPr/>
        </p:nvSpPr>
        <p:spPr>
          <a:xfrm>
            <a:off x="4206240" y="55595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txBox="1"/>
          <p:nvPr/>
        </p:nvSpPr>
        <p:spPr>
          <a:xfrm>
            <a:off x="4754880" y="5541264"/>
            <a:ext cx="6583680" cy="4114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Estructura docs/modesec/ con carpeta por tipo de pieza</a:t>
            </a:r>
            <a:endParaRPr lang="en-US" sz="1250" dirty="0"/>
          </a:p>
        </p:txBody>
      </p:sp>
      <p:sp>
        <p:nvSpPr>
          <p:cNvPr id="34" name="Text 32"/>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Detalle completo, con responsables y esfuerzo estimado, en docs/modesec/01_GAP_Y_PLAN.md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§3.1 · Diagrama de contenidos</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Qué exige MODESEC: representar gráficamente los contenidos mediante mentefacto, mapa conceptual o mapa mental (Gráfico 1)</a:t>
            </a:r>
            <a:endParaRPr lang="en-US" sz="1400" dirty="0"/>
          </a:p>
        </p:txBody>
      </p:sp>
      <p:sp>
        <p:nvSpPr>
          <p:cNvPr id="4" name="Shape 2"/>
          <p:cNvSpPr/>
          <p:nvPr/>
        </p:nvSpPr>
        <p:spPr>
          <a:xfrm>
            <a:off x="548640" y="1600200"/>
            <a:ext cx="5029200" cy="2331720"/>
          </a:xfrm>
          <a:prstGeom prst="roundRect">
            <a:avLst>
              <a:gd name="adj" fmla="val 3137"/>
            </a:avLst>
          </a:prstGeom>
          <a:solidFill>
            <a:srgbClr val="F6F3EF"/>
          </a:solidFill>
          <a:ln w="12700">
            <a:solidFill>
              <a:srgbClr val="EDE8E1"/>
            </a:solidFill>
            <a:prstDash val="solid"/>
          </a:ln>
        </p:spPr>
      </p:sp>
      <p:sp>
        <p:nvSpPr>
          <p:cNvPr id="5" name="Text 3"/>
          <p:cNvSpPr txBox="1"/>
          <p:nvPr/>
        </p:nvSpPr>
        <p:spPr>
          <a:xfrm>
            <a:off x="822960" y="1783080"/>
            <a:ext cx="3657600" cy="274320"/>
          </a:xfrm>
          <a:prstGeom prst="rect">
            <a:avLst/>
          </a:prstGeom>
          <a:noFill/>
          <a:ln/>
        </p:spPr>
        <p:txBody>
          <a:bodyPr wrap="square" lIns="0" tIns="0" rIns="0" bIns="0" rtlCol="0" anchor="ctr"/>
          <a:lstStyle/>
          <a:p>
            <a:pPr indent="0" marL="0">
              <a:buNone/>
            </a:pPr>
            <a:r>
              <a:rPr lang="en-US" sz="1100" b="1" spc="200" kern="0" dirty="0">
                <a:solidFill>
                  <a:srgbClr val="C87B1E"/>
                </a:solidFill>
                <a:latin typeface="Calibri" pitchFamily="34" charset="0"/>
                <a:ea typeface="Calibri" pitchFamily="34" charset="-122"/>
                <a:cs typeface="Calibri" pitchFamily="34" charset="-120"/>
              </a:rPr>
              <a:t>QUÉ HICIMOS</a:t>
            </a:r>
            <a:endParaRPr lang="en-US" sz="1100" dirty="0"/>
          </a:p>
        </p:txBody>
      </p:sp>
      <p:sp>
        <p:nvSpPr>
          <p:cNvPr id="6" name="Text 4"/>
          <p:cNvSpPr txBox="1"/>
          <p:nvPr/>
        </p:nvSpPr>
        <p:spPr>
          <a:xfrm>
            <a:off x="822960" y="2103120"/>
            <a:ext cx="4480560" cy="17373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B2622"/>
                </a:solidFill>
                <a:latin typeface="Calibri" pitchFamily="34" charset="0"/>
                <a:ea typeface="Calibri" pitchFamily="34" charset="-122"/>
                <a:cs typeface="Calibri" pitchFamily="34" charset="-120"/>
              </a:rPr>
              <a:t>Mapa mental radial: 3 módulos, 13 temas y 38 unidades de aprendizaje.</a:t>
            </a:r>
            <a:endParaRPr lang="en-US" sz="1300" dirty="0"/>
          </a:p>
          <a:p>
            <a:pPr marL="342900" indent="-342900">
              <a:spcAft>
                <a:spcPts val="600"/>
              </a:spcAft>
              <a:buSzPct val="100000"/>
              <a:buChar char="•"/>
            </a:pPr>
            <a:r>
              <a:rPr lang="en-US" sz="1300" dirty="0">
                <a:solidFill>
                  <a:srgbClr val="2B2622"/>
                </a:solidFill>
                <a:latin typeface="Calibri" pitchFamily="34" charset="0"/>
                <a:ea typeface="Calibri" pitchFamily="34" charset="-122"/>
                <a:cs typeface="Calibri" pitchFamily="34" charset="-120"/>
              </a:rPr>
              <a:t>Cada tema declara un resultado de aprendizaje con verbo observable.</a:t>
            </a:r>
            <a:endParaRPr lang="en-US" sz="1300" dirty="0"/>
          </a:p>
          <a:p>
            <a:pPr marL="342900" indent="-342900">
              <a:spcAft>
                <a:spcPts val="600"/>
              </a:spcAft>
              <a:buSzPct val="100000"/>
              <a:buChar char="•"/>
            </a:pPr>
            <a:r>
              <a:rPr lang="en-US" sz="1300" dirty="0">
                <a:solidFill>
                  <a:srgbClr val="2B2622"/>
                </a:solidFill>
                <a:latin typeface="Calibri" pitchFamily="34" charset="0"/>
                <a:ea typeface="Calibri" pitchFamily="34" charset="-122"/>
                <a:cs typeface="Calibri" pitchFamily="34" charset="-120"/>
              </a:rPr>
              <a:t>Módulo = Sección, Unidad = gránulo con mastery y repaso SM-2.</a:t>
            </a:r>
            <a:endParaRPr lang="en-US" sz="1300" dirty="0"/>
          </a:p>
          <a:p>
            <a:pPr marL="342900" indent="-342900">
              <a:spcAft>
                <a:spcPts val="600"/>
              </a:spcAft>
              <a:buSzPct val="100000"/>
              <a:buChar char="•"/>
            </a:pPr>
            <a:r>
              <a:rPr lang="en-US" sz="1300" dirty="0">
                <a:solidFill>
                  <a:srgbClr val="2B2622"/>
                </a:solidFill>
                <a:latin typeface="Calibri" pitchFamily="34" charset="0"/>
                <a:ea typeface="Calibri" pitchFamily="34" charset="-122"/>
                <a:cs typeface="Calibri" pitchFamily="34" charset="-120"/>
              </a:rPr>
              <a:t>Reglas: desbloqueo 70 %, dominio 85 %, tutoría proactiva bajo 60 %.</a:t>
            </a:r>
            <a:endParaRPr lang="en-US" sz="1300" dirty="0"/>
          </a:p>
        </p:txBody>
      </p:sp>
      <p:sp>
        <p:nvSpPr>
          <p:cNvPr id="7" name="Shape 5"/>
          <p:cNvSpPr/>
          <p:nvPr/>
        </p:nvSpPr>
        <p:spPr>
          <a:xfrm>
            <a:off x="548640" y="4114800"/>
            <a:ext cx="5029200" cy="2103120"/>
          </a:xfrm>
          <a:prstGeom prst="roundRect">
            <a:avLst>
              <a:gd name="adj" fmla="val 3478"/>
            </a:avLst>
          </a:prstGeom>
          <a:solidFill>
            <a:srgbClr val="EDE8E1"/>
          </a:solidFill>
          <a:ln w="12700">
            <a:solidFill>
              <a:srgbClr val="EDE8E1"/>
            </a:solidFill>
            <a:prstDash val="solid"/>
          </a:ln>
        </p:spPr>
      </p:sp>
      <p:sp>
        <p:nvSpPr>
          <p:cNvPr id="8" name="Text 6"/>
          <p:cNvSpPr txBox="1"/>
          <p:nvPr/>
        </p:nvSpPr>
        <p:spPr>
          <a:xfrm>
            <a:off x="822960" y="4279392"/>
            <a:ext cx="3657600" cy="274320"/>
          </a:xfrm>
          <a:prstGeom prst="rect">
            <a:avLst/>
          </a:prstGeom>
          <a:noFill/>
          <a:ln/>
        </p:spPr>
        <p:txBody>
          <a:bodyPr wrap="square" lIns="0" tIns="0" rIns="0" bIns="0" rtlCol="0" anchor="ctr"/>
          <a:lstStyle/>
          <a:p>
            <a:pPr indent="0" marL="0">
              <a:buNone/>
            </a:pPr>
            <a:r>
              <a:rPr lang="en-US" sz="1100" b="1" spc="200" kern="0" dirty="0">
                <a:solidFill>
                  <a:srgbClr val="C87B1E"/>
                </a:solidFill>
                <a:latin typeface="Calibri" pitchFamily="34" charset="0"/>
                <a:ea typeface="Calibri" pitchFamily="34" charset="-122"/>
                <a:cs typeface="Calibri" pitchFamily="34" charset="-120"/>
              </a:rPr>
              <a:t>POR QUÉ</a:t>
            </a:r>
            <a:endParaRPr lang="en-US" sz="1100" dirty="0"/>
          </a:p>
        </p:txBody>
      </p:sp>
      <p:sp>
        <p:nvSpPr>
          <p:cNvPr id="9" name="Text 7"/>
          <p:cNvSpPr txBox="1"/>
          <p:nvPr/>
        </p:nvSpPr>
        <p:spPr>
          <a:xfrm>
            <a:off x="822960" y="4590288"/>
            <a:ext cx="4480560" cy="15087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El contenido de algoritmia es acumulativo: el mapa mental muestra esa dependencia de un vistazo. Los verbos son observables (construye, traza, depura) porque un resultado que no se puede medir con un ejercicio no puede alimentar el motor de dominio.</a:t>
            </a:r>
            <a:endParaRPr lang="en-US" sz="1300" dirty="0"/>
          </a:p>
        </p:txBody>
      </p:sp>
      <p:pic>
        <p:nvPicPr>
          <p:cNvPr id="10" name="Image 0" descr="/home/claude/out/modesec/assets/png/3.1_diagrama_contenidos.png">    </p:cNvPr>
          <p:cNvPicPr>
            <a:picLocks noChangeAspect="1"/>
          </p:cNvPicPr>
          <p:nvPr/>
        </p:nvPicPr>
        <p:blipFill>
          <a:blip r:embed="rId1"/>
          <a:stretch>
            <a:fillRect/>
          </a:stretch>
        </p:blipFill>
        <p:spPr>
          <a:xfrm>
            <a:off x="5852160" y="2377440"/>
            <a:ext cx="5760720" cy="30358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§3.1 · El diagrama de contenidos</a:t>
            </a:r>
            <a:endParaRPr lang="en-US" sz="3400" dirty="0"/>
          </a:p>
        </p:txBody>
      </p:sp>
      <p:pic>
        <p:nvPicPr>
          <p:cNvPr id="3" name="Image 0" descr="/home/claude/out/modesec/assets/png/3.1_diagrama_contenidos.png">    </p:cNvPr>
          <p:cNvPicPr>
            <a:picLocks noChangeAspect="1"/>
          </p:cNvPicPr>
          <p:nvPr/>
        </p:nvPicPr>
        <p:blipFill>
          <a:blip r:embed="rId1"/>
          <a:stretch>
            <a:fillRect/>
          </a:stretch>
        </p:blipFill>
        <p:spPr>
          <a:xfrm>
            <a:off x="548640" y="1463040"/>
            <a:ext cx="11064240" cy="4572000"/>
          </a:xfrm>
          <a:prstGeom prst="rect">
            <a:avLst/>
          </a:prstGeom>
        </p:spPr>
      </p:pic>
      <p:sp>
        <p:nvSpPr>
          <p:cNvPr id="4" name="Text 1"/>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Fuente editable: docs/modesec/assets/3.1_diagrama_contenidos.svg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§3.2 · Guión didáctico — Formato 10</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Qué exige MODESEC: fijar para qué, para quién y con qué finalidad se construye el software, antes de diseñar pantalla alguna</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3108960"/>
                <a:gridCol w="7955280"/>
              </a:tblGrid>
              <a:tr h="402336">
                <a:tc>
                  <a:txBody>
                    <a:bodyPr/>
                    <a:lstStyle/>
                    <a:p>
                      <a:pPr indent="0" marL="0">
                        <a:buNone/>
                      </a:pPr>
                      <a:r>
                        <a:rPr lang="en-US" sz="1250" b="1" dirty="0">
                          <a:solidFill>
                            <a:srgbClr val="2B2622"/>
                          </a:solidFill>
                          <a:latin typeface="Calibri" pitchFamily="34" charset="0"/>
                          <a:ea typeface="Calibri" pitchFamily="34" charset="-122"/>
                          <a:cs typeface="Calibri" pitchFamily="34" charset="-120"/>
                        </a:rPr>
                        <a:t>Campo del Formato 10</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b="1" dirty="0">
                          <a:solidFill>
                            <a:srgbClr val="2B2622"/>
                          </a:solidFill>
                          <a:latin typeface="Calibri" pitchFamily="34" charset="0"/>
                          <a:ea typeface="Calibri" pitchFamily="34" charset="-122"/>
                          <a:cs typeface="Calibri" pitchFamily="34" charset="-120"/>
                        </a:rPr>
                        <a:t>Contenido declarado para STIRE</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Título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STIRE — Fundamentos de Algoritmia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Sinopsis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Práctica algorítmica con juez automático, tutoría socrática y repaso espaciado, regida por dominio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Finalidad educativa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Dimensiones cognitiva, procedimental y actitudinal de la resolución de problemas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Objetivos didácticos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Representar y verificar · seleccionar la estructura de control · descomponer en funciones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Contextos valorativos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Honestidad académica · persistencia · rigor · colaboración (MOCAVI)</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Rango de edades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18 – 22 años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Características psicológicas</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Alta ansiedad ante el error de compilación · autorregulación en desarrollo · baja tolerancia a la espera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402336">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Nivel académico</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50" dirty="0">
                          <a:solidFill>
                            <a:srgbClr val="2B2622"/>
                          </a:solidFill>
                          <a:latin typeface="Calibri" pitchFamily="34" charset="0"/>
                          <a:ea typeface="Calibri" pitchFamily="34" charset="-122"/>
                          <a:cs typeface="Calibri" pitchFamily="34" charset="-120"/>
                        </a:rPr>
                        <a:t>Universitario — 3.er semestre, Licenciatura en Informática</a:t>
                      </a:r>
                      <a:endParaRPr lang="en-US" sz="125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32120"/>
            <a:ext cx="11064240" cy="731520"/>
          </a:xfrm>
          <a:prstGeom prst="roundRect">
            <a:avLst>
              <a:gd name="adj" fmla="val 10000"/>
            </a:avLst>
          </a:prstGeom>
          <a:solidFill>
            <a:srgbClr val="EDE8E1"/>
          </a:solidFill>
          <a:ln w="12700">
            <a:solidFill>
              <a:srgbClr val="EDE8E1"/>
            </a:solidFill>
            <a:prstDash val="solid"/>
          </a:ln>
        </p:spPr>
      </p:sp>
      <p:sp>
        <p:nvSpPr>
          <p:cNvPr id="6" name="Text 3"/>
          <p:cNvSpPr txBox="1"/>
          <p:nvPr/>
        </p:nvSpPr>
        <p:spPr>
          <a:xfrm>
            <a:off x="822960" y="5669280"/>
            <a:ext cx="10515600" cy="502920"/>
          </a:xfrm>
          <a:prstGeom prst="rect">
            <a:avLst/>
          </a:prstGeom>
          <a:noFill/>
          <a:ln/>
        </p:spPr>
        <p:txBody>
          <a:bodyPr wrap="square" lIns="0" tIns="0" rIns="0" bIns="0" rtlCol="0" anchor="ctr"/>
          <a:lstStyle/>
          <a:p>
            <a:pPr indent="0" marL="0">
              <a:buNone/>
            </a:pPr>
            <a:r>
              <a:rPr lang="en-US" sz="1250" i="1" dirty="0">
                <a:solidFill>
                  <a:srgbClr val="2B2622"/>
                </a:solidFill>
                <a:latin typeface="Calibri" pitchFamily="34" charset="0"/>
                <a:ea typeface="Calibri" pitchFamily="34" charset="-122"/>
                <a:cs typeface="Calibri" pitchFamily="34" charset="-120"/>
              </a:rPr>
              <a:t>Las características psicológicas no son adorno: de la ansiedad ante el error salen tres decisiones de interfaz — Ejecutar separado de Entregar, autoguardado visible y un tutor que pregunta en lugar de corregir.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§3.2 · Guión técnico — Formato 11</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Qué exige MODESEC: por cada ventana, describir texto, imagen y sonido con su formato/fuente, su acción y el evento que la dispara</a:t>
            </a:r>
            <a:endParaRPr lang="en-US" sz="1400" dirty="0"/>
          </a:p>
        </p:txBody>
      </p:sp>
      <p:sp>
        <p:nvSpPr>
          <p:cNvPr id="4" name="Text 2"/>
          <p:cNvSpPr txBox="1"/>
          <p:nvPr/>
        </p:nvSpPr>
        <p:spPr>
          <a:xfrm>
            <a:off x="548640" y="1572768"/>
            <a:ext cx="7315200" cy="320040"/>
          </a:xfrm>
          <a:prstGeom prst="rect">
            <a:avLst/>
          </a:prstGeom>
          <a:noFill/>
          <a:ln/>
        </p:spPr>
        <p:txBody>
          <a:bodyPr wrap="square" lIns="0" tIns="0" rIns="0" bIns="0" rtlCol="0" anchor="ctr"/>
          <a:lstStyle/>
          <a:p>
            <a:pPr indent="0" marL="0">
              <a:buNone/>
            </a:pPr>
            <a:r>
              <a:rPr lang="en-US" sz="1500" b="1" dirty="0">
                <a:solidFill>
                  <a:srgbClr val="C87B1E"/>
                </a:solidFill>
                <a:latin typeface="Calibri" pitchFamily="34" charset="0"/>
                <a:ea typeface="Calibri" pitchFamily="34" charset="-122"/>
                <a:cs typeface="Calibri" pitchFamily="34" charset="-120"/>
              </a:rPr>
              <a:t>Ejemplo: V-03 · Resolución de ejercicio</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280160"/>
                <a:gridCol w="3291840"/>
                <a:gridCol w="1828800"/>
                <a:gridCol w="2377440"/>
                <a:gridCol w="2286000"/>
              </a:tblGrid>
              <a:tr h="0">
                <a:tc>
                  <a:txBody>
                    <a:bodyPr/>
                    <a:lstStyle/>
                    <a:p>
                      <a:pPr indent="0" marL="0">
                        <a:buNone/>
                      </a:pPr>
                      <a:r>
                        <a:rPr lang="en-US" sz="1150" b="1" dirty="0">
                          <a:solidFill>
                            <a:srgbClr val="2B2622"/>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b="1" dirty="0">
                          <a:solidFill>
                            <a:srgbClr val="2B2622"/>
                          </a:solidFill>
                          <a:latin typeface="Calibri" pitchFamily="34" charset="0"/>
                          <a:ea typeface="Calibri" pitchFamily="34" charset="-122"/>
                          <a:cs typeface="Calibri" pitchFamily="34" charset="-120"/>
                        </a:rPr>
                        <a:t>Descripción</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b="1" dirty="0">
                          <a:solidFill>
                            <a:srgbClr val="2B2622"/>
                          </a:solidFill>
                          <a:latin typeface="Calibri" pitchFamily="34" charset="0"/>
                          <a:ea typeface="Calibri" pitchFamily="34" charset="-122"/>
                          <a:cs typeface="Calibri" pitchFamily="34" charset="-120"/>
                        </a:rPr>
                        <a:t>Formato / fuente</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b="1" dirty="0">
                          <a:solidFill>
                            <a:srgbClr val="2B2622"/>
                          </a:solidFill>
                          <a:latin typeface="Calibri" pitchFamily="34" charset="0"/>
                          <a:ea typeface="Calibri" pitchFamily="34" charset="-122"/>
                          <a:cs typeface="Calibri" pitchFamily="34" charset="-120"/>
                        </a:rPr>
                        <a:t>Acción</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b="1" dirty="0">
                          <a:solidFill>
                            <a:srgbClr val="2B2622"/>
                          </a:solidFill>
                          <a:latin typeface="Calibri" pitchFamily="34" charset="0"/>
                          <a:ea typeface="Calibri" pitchFamily="34" charset="-122"/>
                          <a:cs typeface="Calibri" pitchFamily="34" charset="-120"/>
                        </a:rPr>
                        <a:t>Evento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Texto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Enunciado ≤200 palabras, ejemplos E/S, intentos restantes; editor monoespaciado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UTF-8 · banco propio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Envía el código al juez y muestra el resultado por caso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Clic en Ejecutar (no consume intento) o Entregar (sí)</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Imagen</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Iconos de estado por caso: pasa, falla, tiempo excedido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SVG · producción propia</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Cambia el estado visual del caso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Respuesta del juez</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Sonido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Dos señales cortas, desactivadas por defecto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WAV/OGG ≤1 s · pendiente</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Avisa del fin de la ejecución sin mirar la pantalla</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Fin de la ejecución</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Animación</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Indicador del sandbox: en cola → ejecutando → evaluando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CSS + SVG propio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Comunica que el sistema no está congelado</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50" dirty="0">
                          <a:solidFill>
                            <a:srgbClr val="2B2622"/>
                          </a:solidFill>
                          <a:latin typeface="Calibri" pitchFamily="34" charset="0"/>
                          <a:ea typeface="Calibri" pitchFamily="34" charset="-122"/>
                          <a:cs typeface="Calibri" pitchFamily="34" charset="-120"/>
                        </a:rPr>
                        <a:t>Envío al juez</a:t>
                      </a:r>
                      <a:endParaRPr lang="en-US" sz="1150" dirty="0">
                        <a:latin typeface="Calibri" charset="0"/>
                        <a:ea typeface="Calibri" charset="0"/>
                        <a:cs typeface="Calibri" charset="0"/>
                      </a:endParaRPr>
                    </a:p>
                  </a:txBody>
                  <a:tcPr marL="101600" marR="101600" marT="76200" marB="76200" anchor="t">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029200"/>
            <a:ext cx="11064240" cy="1097280"/>
          </a:xfrm>
          <a:prstGeom prst="roundRect">
            <a:avLst>
              <a:gd name="adj" fmla="val 6667"/>
            </a:avLst>
          </a:prstGeom>
          <a:solidFill>
            <a:srgbClr val="EDE8E1"/>
          </a:solidFill>
          <a:ln w="12700">
            <a:solidFill>
              <a:srgbClr val="EDE8E1"/>
            </a:solidFill>
            <a:prstDash val="solid"/>
          </a:ln>
        </p:spPr>
      </p:sp>
      <p:sp>
        <p:nvSpPr>
          <p:cNvPr id="7" name="Text 4"/>
          <p:cNvSpPr txBox="1"/>
          <p:nvPr/>
        </p:nvSpPr>
        <p:spPr>
          <a:xfrm>
            <a:off x="822960" y="5212080"/>
            <a:ext cx="10515600" cy="77724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Los seis guiones (V-01 a V-06) están completos en docs/modesec/guiones/. El inventario de recursos multimedia declara qué está producido y qué no: la cápsula de video y la animación de trazado siguen pendientes, y se declaran como tales en lugar de darse por hechas.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 · Ventana estándar — Formato 12</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La ventana modelo de la que derivan todas las interfaces: cinco secciones, cuatro invariantes</a:t>
            </a:r>
            <a:endParaRPr lang="en-US" sz="1400" dirty="0"/>
          </a:p>
        </p:txBody>
      </p:sp>
      <p:pic>
        <p:nvPicPr>
          <p:cNvPr id="4" name="Image 0" descr="/home/claude/out/modesec/assets/png/3.3_ventana_estandar.png">    </p:cNvPr>
          <p:cNvPicPr>
            <a:picLocks noChangeAspect="1"/>
          </p:cNvPicPr>
          <p:nvPr/>
        </p:nvPicPr>
        <p:blipFill>
          <a:blip r:embed="rId1"/>
          <a:stretch>
            <a:fillRect/>
          </a:stretch>
        </p:blipFill>
        <p:spPr>
          <a:xfrm>
            <a:off x="1234440" y="1463040"/>
            <a:ext cx="9692640" cy="4572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 · Las cinco secciones y su función pedagógica</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MODESEC pide explicar la división de la ventana. Lo que importa no es qué contiene cada sección, sino por qué está ahí</a:t>
            </a:r>
            <a:endParaRPr lang="en-US" sz="1400" dirty="0"/>
          </a:p>
        </p:txBody>
      </p:sp>
      <p:sp>
        <p:nvSpPr>
          <p:cNvPr id="4" name="Shape 2"/>
          <p:cNvSpPr/>
          <p:nvPr/>
        </p:nvSpPr>
        <p:spPr>
          <a:xfrm>
            <a:off x="548640" y="1783080"/>
            <a:ext cx="11064240" cy="822960"/>
          </a:xfrm>
          <a:prstGeom prst="roundRect">
            <a:avLst>
              <a:gd name="adj" fmla="val 8889"/>
            </a:avLst>
          </a:prstGeom>
          <a:solidFill>
            <a:srgbClr val="F6F3EF"/>
          </a:solidFill>
          <a:ln w="12700">
            <a:solidFill>
              <a:srgbClr val="EDE8E1"/>
            </a:solidFill>
            <a:prstDash val="solid"/>
          </a:ln>
        </p:spPr>
      </p:sp>
      <p:sp>
        <p:nvSpPr>
          <p:cNvPr id="5" name="Shape 3"/>
          <p:cNvSpPr/>
          <p:nvPr/>
        </p:nvSpPr>
        <p:spPr>
          <a:xfrm>
            <a:off x="822960" y="2002536"/>
            <a:ext cx="384048" cy="384048"/>
          </a:xfrm>
          <a:prstGeom prst="ellipse">
            <a:avLst/>
          </a:prstGeom>
          <a:solidFill>
            <a:srgbClr val="C87B1E"/>
          </a:solidFill>
          <a:ln/>
        </p:spPr>
      </p:sp>
      <p:sp>
        <p:nvSpPr>
          <p:cNvPr id="6" name="Text 4"/>
          <p:cNvSpPr txBox="1"/>
          <p:nvPr/>
        </p:nvSpPr>
        <p:spPr>
          <a:xfrm>
            <a:off x="822960" y="2002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txBox="1"/>
          <p:nvPr/>
        </p:nvSpPr>
        <p:spPr>
          <a:xfrm>
            <a:off x="1371600" y="1929384"/>
            <a:ext cx="1463040" cy="27432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Header</a:t>
            </a:r>
            <a:endParaRPr lang="en-US" sz="1350" dirty="0"/>
          </a:p>
        </p:txBody>
      </p:sp>
      <p:sp>
        <p:nvSpPr>
          <p:cNvPr id="8" name="Text 6"/>
          <p:cNvSpPr txBox="1"/>
          <p:nvPr/>
        </p:nvSpPr>
        <p:spPr>
          <a:xfrm>
            <a:off x="1371600" y="2212848"/>
            <a:ext cx="3108960" cy="27432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Ruta, barra de dominio y repasos</a:t>
            </a:r>
            <a:endParaRPr lang="en-US" sz="1050" dirty="0"/>
          </a:p>
        </p:txBody>
      </p:sp>
      <p:sp>
        <p:nvSpPr>
          <p:cNvPr id="9" name="Text 7"/>
          <p:cNvSpPr txBox="1"/>
          <p:nvPr/>
        </p:nvSpPr>
        <p:spPr>
          <a:xfrm>
            <a:off x="4663440" y="1965960"/>
            <a:ext cx="667512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Ancla al estudiante en el mapa del conocimiento: hace visible el mastery learning, que de otro modo no regularía su conducta de estudio.</a:t>
            </a:r>
            <a:endParaRPr lang="en-US" sz="1200" dirty="0"/>
          </a:p>
        </p:txBody>
      </p:sp>
      <p:sp>
        <p:nvSpPr>
          <p:cNvPr id="10" name="Shape 8"/>
          <p:cNvSpPr/>
          <p:nvPr/>
        </p:nvSpPr>
        <p:spPr>
          <a:xfrm>
            <a:off x="548640" y="2715768"/>
            <a:ext cx="11064240" cy="822960"/>
          </a:xfrm>
          <a:prstGeom prst="roundRect">
            <a:avLst>
              <a:gd name="adj" fmla="val 8889"/>
            </a:avLst>
          </a:prstGeom>
          <a:solidFill>
            <a:srgbClr val="FFFFFF"/>
          </a:solidFill>
          <a:ln w="12700">
            <a:solidFill>
              <a:srgbClr val="EDE8E1"/>
            </a:solidFill>
            <a:prstDash val="solid"/>
          </a:ln>
        </p:spPr>
      </p:sp>
      <p:sp>
        <p:nvSpPr>
          <p:cNvPr id="11" name="Shape 9"/>
          <p:cNvSpPr/>
          <p:nvPr/>
        </p:nvSpPr>
        <p:spPr>
          <a:xfrm>
            <a:off x="822960" y="2935224"/>
            <a:ext cx="384048" cy="384048"/>
          </a:xfrm>
          <a:prstGeom prst="ellipse">
            <a:avLst/>
          </a:prstGeom>
          <a:solidFill>
            <a:srgbClr val="C87B1E"/>
          </a:solidFill>
          <a:ln/>
        </p:spPr>
      </p:sp>
      <p:sp>
        <p:nvSpPr>
          <p:cNvPr id="12" name="Text 10"/>
          <p:cNvSpPr txBox="1"/>
          <p:nvPr/>
        </p:nvSpPr>
        <p:spPr>
          <a:xfrm>
            <a:off x="822960" y="2935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3" name="Text 11"/>
          <p:cNvSpPr txBox="1"/>
          <p:nvPr/>
        </p:nvSpPr>
        <p:spPr>
          <a:xfrm>
            <a:off x="1371600" y="2862072"/>
            <a:ext cx="1463040" cy="27432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Menú</a:t>
            </a:r>
            <a:endParaRPr lang="en-US" sz="1350" dirty="0"/>
          </a:p>
        </p:txBody>
      </p:sp>
      <p:sp>
        <p:nvSpPr>
          <p:cNvPr id="14" name="Text 12"/>
          <p:cNvSpPr txBox="1"/>
          <p:nvPr/>
        </p:nvSpPr>
        <p:spPr>
          <a:xfrm>
            <a:off x="1371600" y="3145536"/>
            <a:ext cx="3108960" cy="27432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Árbol con estado por unidad y candados</a:t>
            </a:r>
            <a:endParaRPr lang="en-US" sz="1050" dirty="0"/>
          </a:p>
        </p:txBody>
      </p:sp>
      <p:sp>
        <p:nvSpPr>
          <p:cNvPr id="15" name="Text 13"/>
          <p:cNvSpPr txBox="1"/>
          <p:nvPr/>
        </p:nvSpPr>
        <p:spPr>
          <a:xfrm>
            <a:off x="4663440" y="2898648"/>
            <a:ext cx="667512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Materializa el grafo de prerrequisitos: el candado es información pedagógica, no una restricción administrativa.</a:t>
            </a:r>
            <a:endParaRPr lang="en-US" sz="1200" dirty="0"/>
          </a:p>
        </p:txBody>
      </p:sp>
      <p:sp>
        <p:nvSpPr>
          <p:cNvPr id="16" name="Shape 14"/>
          <p:cNvSpPr/>
          <p:nvPr/>
        </p:nvSpPr>
        <p:spPr>
          <a:xfrm>
            <a:off x="548640" y="3648456"/>
            <a:ext cx="11064240" cy="822960"/>
          </a:xfrm>
          <a:prstGeom prst="roundRect">
            <a:avLst>
              <a:gd name="adj" fmla="val 8889"/>
            </a:avLst>
          </a:prstGeom>
          <a:solidFill>
            <a:srgbClr val="F6F3EF"/>
          </a:solidFill>
          <a:ln w="12700">
            <a:solidFill>
              <a:srgbClr val="EDE8E1"/>
            </a:solidFill>
            <a:prstDash val="solid"/>
          </a:ln>
        </p:spPr>
      </p:sp>
      <p:sp>
        <p:nvSpPr>
          <p:cNvPr id="17" name="Shape 15"/>
          <p:cNvSpPr/>
          <p:nvPr/>
        </p:nvSpPr>
        <p:spPr>
          <a:xfrm>
            <a:off x="822960" y="3867912"/>
            <a:ext cx="384048" cy="384048"/>
          </a:xfrm>
          <a:prstGeom prst="ellipse">
            <a:avLst/>
          </a:prstGeom>
          <a:solidFill>
            <a:srgbClr val="C87B1E"/>
          </a:solidFill>
          <a:ln/>
        </p:spPr>
      </p:sp>
      <p:sp>
        <p:nvSpPr>
          <p:cNvPr id="18" name="Text 16"/>
          <p:cNvSpPr txBox="1"/>
          <p:nvPr/>
        </p:nvSpPr>
        <p:spPr>
          <a:xfrm>
            <a:off x="822960" y="3867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7"/>
          <p:cNvSpPr txBox="1"/>
          <p:nvPr/>
        </p:nvSpPr>
        <p:spPr>
          <a:xfrm>
            <a:off x="1371600" y="3794760"/>
            <a:ext cx="1463040" cy="27432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Contenido</a:t>
            </a:r>
            <a:endParaRPr lang="en-US" sz="1350" dirty="0"/>
          </a:p>
        </p:txBody>
      </p:sp>
      <p:sp>
        <p:nvSpPr>
          <p:cNvPr id="20" name="Text 18"/>
          <p:cNvSpPr txBox="1"/>
          <p:nvPr/>
        </p:nvSpPr>
        <p:spPr>
          <a:xfrm>
            <a:off x="1371600" y="4078224"/>
            <a:ext cx="3108960" cy="27432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Teoría, enunciado + editor, tutor o repasos</a:t>
            </a:r>
            <a:endParaRPr lang="en-US" sz="1050" dirty="0"/>
          </a:p>
        </p:txBody>
      </p:sp>
      <p:sp>
        <p:nvSpPr>
          <p:cNvPr id="21" name="Text 19"/>
          <p:cNvSpPr txBox="1"/>
          <p:nvPr/>
        </p:nvSpPr>
        <p:spPr>
          <a:xfrm>
            <a:off x="4663440" y="3831336"/>
            <a:ext cx="667512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Concentra el esfuerzo cognitivo pertinente: enunciado, editor y retroalimentación conviven sin cambiar de pantalla.</a:t>
            </a:r>
            <a:endParaRPr lang="en-US" sz="1200" dirty="0"/>
          </a:p>
        </p:txBody>
      </p:sp>
      <p:sp>
        <p:nvSpPr>
          <p:cNvPr id="22" name="Shape 20"/>
          <p:cNvSpPr/>
          <p:nvPr/>
        </p:nvSpPr>
        <p:spPr>
          <a:xfrm>
            <a:off x="548640" y="4581144"/>
            <a:ext cx="11064240" cy="822960"/>
          </a:xfrm>
          <a:prstGeom prst="roundRect">
            <a:avLst>
              <a:gd name="adj" fmla="val 8889"/>
            </a:avLst>
          </a:prstGeom>
          <a:solidFill>
            <a:srgbClr val="FFFFFF"/>
          </a:solidFill>
          <a:ln w="12700">
            <a:solidFill>
              <a:srgbClr val="EDE8E1"/>
            </a:solidFill>
            <a:prstDash val="solid"/>
          </a:ln>
        </p:spPr>
      </p:sp>
      <p:sp>
        <p:nvSpPr>
          <p:cNvPr id="23" name="Shape 21"/>
          <p:cNvSpPr/>
          <p:nvPr/>
        </p:nvSpPr>
        <p:spPr>
          <a:xfrm>
            <a:off x="822960" y="4800600"/>
            <a:ext cx="384048" cy="384048"/>
          </a:xfrm>
          <a:prstGeom prst="ellipse">
            <a:avLst/>
          </a:prstGeom>
          <a:solidFill>
            <a:srgbClr val="C87B1E"/>
          </a:solidFill>
          <a:ln/>
        </p:spPr>
      </p:sp>
      <p:sp>
        <p:nvSpPr>
          <p:cNvPr id="24" name="Text 22"/>
          <p:cNvSpPr txBox="1"/>
          <p:nvPr/>
        </p:nvSpPr>
        <p:spPr>
          <a:xfrm>
            <a:off x="822960" y="4800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5" name="Text 23"/>
          <p:cNvSpPr txBox="1"/>
          <p:nvPr/>
        </p:nvSpPr>
        <p:spPr>
          <a:xfrm>
            <a:off x="1371600" y="4727448"/>
            <a:ext cx="1463040" cy="27432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Acciones</a:t>
            </a:r>
            <a:endParaRPr lang="en-US" sz="1350" dirty="0"/>
          </a:p>
        </p:txBody>
      </p:sp>
      <p:sp>
        <p:nvSpPr>
          <p:cNvPr id="26" name="Text 24"/>
          <p:cNvSpPr txBox="1"/>
          <p:nvPr/>
        </p:nvSpPr>
        <p:spPr>
          <a:xfrm>
            <a:off x="1371600" y="5010912"/>
            <a:ext cx="3108960" cy="27432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Ejecutar · Entregar · Pedir pista · Reiniciar</a:t>
            </a:r>
            <a:endParaRPr lang="en-US" sz="1050" dirty="0"/>
          </a:p>
        </p:txBody>
      </p:sp>
      <p:sp>
        <p:nvSpPr>
          <p:cNvPr id="27" name="Text 25"/>
          <p:cNvSpPr txBox="1"/>
          <p:nvPr/>
        </p:nvSpPr>
        <p:spPr>
          <a:xfrm>
            <a:off x="4663440" y="4764024"/>
            <a:ext cx="667512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Separa ensayar de entregar. Ejecutar es gratis e ilimitado; entregar consume intento. Eso convierte el error en instrumento.</a:t>
            </a:r>
            <a:endParaRPr lang="en-US" sz="1200" dirty="0"/>
          </a:p>
        </p:txBody>
      </p:sp>
      <p:sp>
        <p:nvSpPr>
          <p:cNvPr id="28" name="Shape 26"/>
          <p:cNvSpPr/>
          <p:nvPr/>
        </p:nvSpPr>
        <p:spPr>
          <a:xfrm>
            <a:off x="548640" y="5513832"/>
            <a:ext cx="11064240" cy="822960"/>
          </a:xfrm>
          <a:prstGeom prst="roundRect">
            <a:avLst>
              <a:gd name="adj" fmla="val 8889"/>
            </a:avLst>
          </a:prstGeom>
          <a:solidFill>
            <a:srgbClr val="F6F3EF"/>
          </a:solidFill>
          <a:ln w="12700">
            <a:solidFill>
              <a:srgbClr val="EDE8E1"/>
            </a:solidFill>
            <a:prstDash val="solid"/>
          </a:ln>
        </p:spPr>
      </p:sp>
      <p:sp>
        <p:nvSpPr>
          <p:cNvPr id="29" name="Shape 27"/>
          <p:cNvSpPr/>
          <p:nvPr/>
        </p:nvSpPr>
        <p:spPr>
          <a:xfrm>
            <a:off x="822960" y="5733288"/>
            <a:ext cx="384048" cy="384048"/>
          </a:xfrm>
          <a:prstGeom prst="ellipse">
            <a:avLst/>
          </a:prstGeom>
          <a:solidFill>
            <a:srgbClr val="C87B1E"/>
          </a:solidFill>
          <a:ln/>
        </p:spPr>
      </p:sp>
      <p:sp>
        <p:nvSpPr>
          <p:cNvPr id="30" name="Text 28"/>
          <p:cNvSpPr txBox="1"/>
          <p:nvPr/>
        </p:nvSpPr>
        <p:spPr>
          <a:xfrm>
            <a:off x="822960" y="5733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31" name="Text 29"/>
          <p:cNvSpPr txBox="1"/>
          <p:nvPr/>
        </p:nvSpPr>
        <p:spPr>
          <a:xfrm>
            <a:off x="1371600" y="5660136"/>
            <a:ext cx="1463040" cy="274320"/>
          </a:xfrm>
          <a:prstGeom prst="rect">
            <a:avLst/>
          </a:prstGeom>
          <a:noFill/>
          <a:ln/>
        </p:spPr>
        <p:txBody>
          <a:bodyPr wrap="square" lIns="0" tIns="0" rIns="0" bIns="0" rtlCol="0" anchor="ctr"/>
          <a:lstStyle/>
          <a:p>
            <a:pPr indent="0" marL="0">
              <a:buNone/>
            </a:pPr>
            <a:r>
              <a:rPr lang="en-US" sz="1350" b="1" dirty="0">
                <a:solidFill>
                  <a:srgbClr val="2B2622"/>
                </a:solidFill>
                <a:latin typeface="Calibri" pitchFamily="34" charset="0"/>
                <a:ea typeface="Calibri" pitchFamily="34" charset="-122"/>
                <a:cs typeface="Calibri" pitchFamily="34" charset="-120"/>
              </a:rPr>
              <a:t>Footer</a:t>
            </a:r>
            <a:endParaRPr lang="en-US" sz="1350" dirty="0"/>
          </a:p>
        </p:txBody>
      </p:sp>
      <p:sp>
        <p:nvSpPr>
          <p:cNvPr id="32" name="Text 30"/>
          <p:cNvSpPr txBox="1"/>
          <p:nvPr/>
        </p:nvSpPr>
        <p:spPr>
          <a:xfrm>
            <a:off x="1371600" y="5943600"/>
            <a:ext cx="3108960" cy="274320"/>
          </a:xfrm>
          <a:prstGeom prst="rect">
            <a:avLst/>
          </a:prstGeom>
          <a:noFill/>
          <a:ln/>
        </p:spPr>
        <p:txBody>
          <a:bodyPr wrap="square" lIns="0" tIns="0" rIns="0" bIns="0" rtlCol="0" anchor="ctr"/>
          <a:lstStyle/>
          <a:p>
            <a:pPr indent="0" marL="0">
              <a:buNone/>
            </a:pPr>
            <a:r>
              <a:rPr lang="en-US" sz="1050" dirty="0">
                <a:solidFill>
                  <a:srgbClr val="7A716A"/>
                </a:solidFill>
                <a:latin typeface="Calibri" pitchFamily="34" charset="0"/>
                <a:ea typeface="Calibri" pitchFamily="34" charset="-122"/>
                <a:cs typeface="Calibri" pitchFamily="34" charset="-120"/>
              </a:rPr>
              <a:t>Versión, autoguardado y accesibilidad</a:t>
            </a:r>
            <a:endParaRPr lang="en-US" sz="1050" dirty="0"/>
          </a:p>
        </p:txBody>
      </p:sp>
      <p:sp>
        <p:nvSpPr>
          <p:cNvPr id="33" name="Text 31"/>
          <p:cNvSpPr txBox="1"/>
          <p:nvPr/>
        </p:nvSpPr>
        <p:spPr>
          <a:xfrm>
            <a:off x="4663440" y="5696712"/>
            <a:ext cx="667512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Sostiene la confianza en el entorno: saber que el trabajo está guardado elimina la ansiedad por pérdida.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§3.3.1 · Las 7 categorías — Formato 13</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Ninguna puede quedar en blanco: si no aplica, se escribe por qué. Un “no aplica” sin justificación es indistinguible de un olvido</a:t>
            </a:r>
            <a:endParaRPr lang="en-US" sz="1400" dirty="0"/>
          </a:p>
        </p:txBody>
      </p:sp>
      <p:sp>
        <p:nvSpPr>
          <p:cNvPr id="4" name="Shape 2"/>
          <p:cNvSpPr/>
          <p:nvPr/>
        </p:nvSpPr>
        <p:spPr>
          <a:xfrm>
            <a:off x="548640" y="1737360"/>
            <a:ext cx="5394960" cy="914400"/>
          </a:xfrm>
          <a:prstGeom prst="roundRect">
            <a:avLst>
              <a:gd name="adj" fmla="val 8000"/>
            </a:avLst>
          </a:prstGeom>
          <a:solidFill>
            <a:srgbClr val="FFFFFF"/>
          </a:solidFill>
          <a:ln w="12700">
            <a:solidFill>
              <a:srgbClr val="EDE8E1"/>
            </a:solidFill>
            <a:prstDash val="solid"/>
          </a:ln>
        </p:spPr>
      </p:sp>
      <p:sp>
        <p:nvSpPr>
          <p:cNvPr id="5" name="Shape 3"/>
          <p:cNvSpPr/>
          <p:nvPr/>
        </p:nvSpPr>
        <p:spPr>
          <a:xfrm>
            <a:off x="777240" y="2002536"/>
            <a:ext cx="384048" cy="384048"/>
          </a:xfrm>
          <a:prstGeom prst="ellipse">
            <a:avLst/>
          </a:prstGeom>
          <a:solidFill>
            <a:srgbClr val="C87B1E"/>
          </a:solidFill>
          <a:ln/>
        </p:spPr>
      </p:sp>
      <p:sp>
        <p:nvSpPr>
          <p:cNvPr id="6" name="Text 4"/>
          <p:cNvSpPr txBox="1"/>
          <p:nvPr/>
        </p:nvSpPr>
        <p:spPr>
          <a:xfrm>
            <a:off x="777240" y="2002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25880" y="1901952"/>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Imagen</a:t>
            </a:r>
            <a:endParaRPr lang="en-US" sz="1400" dirty="0"/>
          </a:p>
        </p:txBody>
      </p:sp>
      <p:sp>
        <p:nvSpPr>
          <p:cNvPr id="8" name="Text 6"/>
          <p:cNvSpPr txBox="1"/>
          <p:nvPr/>
        </p:nvSpPr>
        <p:spPr>
          <a:xfrm>
            <a:off x="1325880" y="2212848"/>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Recursos gráficos, iconografía y su propósito</a:t>
            </a:r>
            <a:endParaRPr lang="en-US" sz="1150" dirty="0"/>
          </a:p>
        </p:txBody>
      </p:sp>
      <p:sp>
        <p:nvSpPr>
          <p:cNvPr id="9" name="Shape 7"/>
          <p:cNvSpPr/>
          <p:nvPr/>
        </p:nvSpPr>
        <p:spPr>
          <a:xfrm>
            <a:off x="6217920" y="1737360"/>
            <a:ext cx="5394960" cy="914400"/>
          </a:xfrm>
          <a:prstGeom prst="roundRect">
            <a:avLst>
              <a:gd name="adj" fmla="val 8000"/>
            </a:avLst>
          </a:prstGeom>
          <a:solidFill>
            <a:srgbClr val="FFFFFF"/>
          </a:solidFill>
          <a:ln w="12700">
            <a:solidFill>
              <a:srgbClr val="EDE8E1"/>
            </a:solidFill>
            <a:prstDash val="solid"/>
          </a:ln>
        </p:spPr>
      </p:sp>
      <p:sp>
        <p:nvSpPr>
          <p:cNvPr id="10" name="Shape 8"/>
          <p:cNvSpPr/>
          <p:nvPr/>
        </p:nvSpPr>
        <p:spPr>
          <a:xfrm>
            <a:off x="6446520" y="2002536"/>
            <a:ext cx="384048" cy="384048"/>
          </a:xfrm>
          <a:prstGeom prst="ellipse">
            <a:avLst/>
          </a:prstGeom>
          <a:solidFill>
            <a:srgbClr val="C87B1E"/>
          </a:solidFill>
          <a:ln/>
        </p:spPr>
      </p:sp>
      <p:sp>
        <p:nvSpPr>
          <p:cNvPr id="11" name="Text 9"/>
          <p:cNvSpPr txBox="1"/>
          <p:nvPr/>
        </p:nvSpPr>
        <p:spPr>
          <a:xfrm>
            <a:off x="6446520" y="2002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995160" y="1901952"/>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Nombre</a:t>
            </a:r>
            <a:endParaRPr lang="en-US" sz="1400" dirty="0"/>
          </a:p>
        </p:txBody>
      </p:sp>
      <p:sp>
        <p:nvSpPr>
          <p:cNvPr id="13" name="Text 11"/>
          <p:cNvSpPr txBox="1"/>
          <p:nvPr/>
        </p:nvSpPr>
        <p:spPr>
          <a:xfrm>
            <a:off x="6995160" y="2212848"/>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Identificador interno y título visible</a:t>
            </a:r>
            <a:endParaRPr lang="en-US" sz="1150" dirty="0"/>
          </a:p>
        </p:txBody>
      </p:sp>
      <p:sp>
        <p:nvSpPr>
          <p:cNvPr id="14" name="Shape 12"/>
          <p:cNvSpPr/>
          <p:nvPr/>
        </p:nvSpPr>
        <p:spPr>
          <a:xfrm>
            <a:off x="548640" y="2724912"/>
            <a:ext cx="5394960" cy="914400"/>
          </a:xfrm>
          <a:prstGeom prst="roundRect">
            <a:avLst>
              <a:gd name="adj" fmla="val 8000"/>
            </a:avLst>
          </a:prstGeom>
          <a:solidFill>
            <a:srgbClr val="FFFFFF"/>
          </a:solidFill>
          <a:ln w="12700">
            <a:solidFill>
              <a:srgbClr val="EDE8E1"/>
            </a:solidFill>
            <a:prstDash val="solid"/>
          </a:ln>
        </p:spPr>
      </p:sp>
      <p:sp>
        <p:nvSpPr>
          <p:cNvPr id="15" name="Shape 13"/>
          <p:cNvSpPr/>
          <p:nvPr/>
        </p:nvSpPr>
        <p:spPr>
          <a:xfrm>
            <a:off x="777240" y="2990088"/>
            <a:ext cx="384048" cy="384048"/>
          </a:xfrm>
          <a:prstGeom prst="ellipse">
            <a:avLst/>
          </a:prstGeom>
          <a:solidFill>
            <a:srgbClr val="C87B1E"/>
          </a:solidFill>
          <a:ln/>
        </p:spPr>
      </p:sp>
      <p:sp>
        <p:nvSpPr>
          <p:cNvPr id="16" name="Text 14"/>
          <p:cNvSpPr txBox="1"/>
          <p:nvPr/>
        </p:nvSpPr>
        <p:spPr>
          <a:xfrm>
            <a:off x="7772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25880" y="2889504"/>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Texto</a:t>
            </a:r>
            <a:endParaRPr lang="en-US" sz="1400" dirty="0"/>
          </a:p>
        </p:txBody>
      </p:sp>
      <p:sp>
        <p:nvSpPr>
          <p:cNvPr id="18" name="Text 16"/>
          <p:cNvSpPr txBox="1"/>
          <p:nvPr/>
        </p:nvSpPr>
        <p:spPr>
          <a:xfrm>
            <a:off x="1325880" y="3200400"/>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Contenido, tono, extensión y nivel de lectura</a:t>
            </a:r>
            <a:endParaRPr lang="en-US" sz="1150" dirty="0"/>
          </a:p>
        </p:txBody>
      </p:sp>
      <p:sp>
        <p:nvSpPr>
          <p:cNvPr id="19" name="Shape 17"/>
          <p:cNvSpPr/>
          <p:nvPr/>
        </p:nvSpPr>
        <p:spPr>
          <a:xfrm>
            <a:off x="6217920" y="2724912"/>
            <a:ext cx="5394960" cy="914400"/>
          </a:xfrm>
          <a:prstGeom prst="roundRect">
            <a:avLst>
              <a:gd name="adj" fmla="val 8000"/>
            </a:avLst>
          </a:prstGeom>
          <a:solidFill>
            <a:srgbClr val="FFFFFF"/>
          </a:solidFill>
          <a:ln w="12700">
            <a:solidFill>
              <a:srgbClr val="EDE8E1"/>
            </a:solidFill>
            <a:prstDash val="solid"/>
          </a:ln>
        </p:spPr>
      </p:sp>
      <p:sp>
        <p:nvSpPr>
          <p:cNvPr id="20" name="Shape 18"/>
          <p:cNvSpPr/>
          <p:nvPr/>
        </p:nvSpPr>
        <p:spPr>
          <a:xfrm>
            <a:off x="6446520" y="2990088"/>
            <a:ext cx="384048" cy="384048"/>
          </a:xfrm>
          <a:prstGeom prst="ellipse">
            <a:avLst/>
          </a:prstGeom>
          <a:solidFill>
            <a:srgbClr val="C87B1E"/>
          </a:solidFill>
          <a:ln/>
        </p:spPr>
      </p:sp>
      <p:sp>
        <p:nvSpPr>
          <p:cNvPr id="21" name="Text 19"/>
          <p:cNvSpPr txBox="1"/>
          <p:nvPr/>
        </p:nvSpPr>
        <p:spPr>
          <a:xfrm>
            <a:off x="644652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95160" y="2889504"/>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Audio</a:t>
            </a:r>
            <a:endParaRPr lang="en-US" sz="1400" dirty="0"/>
          </a:p>
        </p:txBody>
      </p:sp>
      <p:sp>
        <p:nvSpPr>
          <p:cNvPr id="23" name="Text 21"/>
          <p:cNvSpPr txBox="1"/>
          <p:nvPr/>
        </p:nvSpPr>
        <p:spPr>
          <a:xfrm>
            <a:off x="6995160" y="3200400"/>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Locución, efectos o su ausencia justificada</a:t>
            </a:r>
            <a:endParaRPr lang="en-US" sz="1150" dirty="0"/>
          </a:p>
        </p:txBody>
      </p:sp>
      <p:sp>
        <p:nvSpPr>
          <p:cNvPr id="24" name="Shape 22"/>
          <p:cNvSpPr/>
          <p:nvPr/>
        </p:nvSpPr>
        <p:spPr>
          <a:xfrm>
            <a:off x="548640" y="3712464"/>
            <a:ext cx="5394960" cy="914400"/>
          </a:xfrm>
          <a:prstGeom prst="roundRect">
            <a:avLst>
              <a:gd name="adj" fmla="val 8000"/>
            </a:avLst>
          </a:prstGeom>
          <a:solidFill>
            <a:srgbClr val="FFFFFF"/>
          </a:solidFill>
          <a:ln w="12700">
            <a:solidFill>
              <a:srgbClr val="EDE8E1"/>
            </a:solidFill>
            <a:prstDash val="solid"/>
          </a:ln>
        </p:spPr>
      </p:sp>
      <p:sp>
        <p:nvSpPr>
          <p:cNvPr id="25" name="Shape 23"/>
          <p:cNvSpPr/>
          <p:nvPr/>
        </p:nvSpPr>
        <p:spPr>
          <a:xfrm>
            <a:off x="777240" y="3977640"/>
            <a:ext cx="384048" cy="384048"/>
          </a:xfrm>
          <a:prstGeom prst="ellipse">
            <a:avLst/>
          </a:prstGeom>
          <a:solidFill>
            <a:srgbClr val="C87B1E"/>
          </a:solidFill>
          <a:ln/>
        </p:spPr>
      </p:sp>
      <p:sp>
        <p:nvSpPr>
          <p:cNvPr id="26" name="Text 24"/>
          <p:cNvSpPr txBox="1"/>
          <p:nvPr/>
        </p:nvSpPr>
        <p:spPr>
          <a:xfrm>
            <a:off x="777240" y="3977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325880" y="3877056"/>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Video</a:t>
            </a:r>
            <a:endParaRPr lang="en-US" sz="1400" dirty="0"/>
          </a:p>
        </p:txBody>
      </p:sp>
      <p:sp>
        <p:nvSpPr>
          <p:cNvPr id="28" name="Text 26"/>
          <p:cNvSpPr txBox="1"/>
          <p:nvPr/>
        </p:nvSpPr>
        <p:spPr>
          <a:xfrm>
            <a:off x="1325880" y="4187952"/>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Clips y duración, o por qué no aplica</a:t>
            </a:r>
            <a:endParaRPr lang="en-US" sz="1150" dirty="0"/>
          </a:p>
        </p:txBody>
      </p:sp>
      <p:sp>
        <p:nvSpPr>
          <p:cNvPr id="29" name="Shape 27"/>
          <p:cNvSpPr/>
          <p:nvPr/>
        </p:nvSpPr>
        <p:spPr>
          <a:xfrm>
            <a:off x="6217920" y="3712464"/>
            <a:ext cx="5394960" cy="914400"/>
          </a:xfrm>
          <a:prstGeom prst="roundRect">
            <a:avLst>
              <a:gd name="adj" fmla="val 8000"/>
            </a:avLst>
          </a:prstGeom>
          <a:solidFill>
            <a:srgbClr val="FFFFFF"/>
          </a:solidFill>
          <a:ln w="12700">
            <a:solidFill>
              <a:srgbClr val="EDE8E1"/>
            </a:solidFill>
            <a:prstDash val="solid"/>
          </a:ln>
        </p:spPr>
      </p:sp>
      <p:sp>
        <p:nvSpPr>
          <p:cNvPr id="30" name="Shape 28"/>
          <p:cNvSpPr/>
          <p:nvPr/>
        </p:nvSpPr>
        <p:spPr>
          <a:xfrm>
            <a:off x="6446520" y="3977640"/>
            <a:ext cx="384048" cy="384048"/>
          </a:xfrm>
          <a:prstGeom prst="ellipse">
            <a:avLst/>
          </a:prstGeom>
          <a:solidFill>
            <a:srgbClr val="C87B1E"/>
          </a:solidFill>
          <a:ln/>
        </p:spPr>
      </p:sp>
      <p:sp>
        <p:nvSpPr>
          <p:cNvPr id="31" name="Text 29"/>
          <p:cNvSpPr txBox="1"/>
          <p:nvPr/>
        </p:nvSpPr>
        <p:spPr>
          <a:xfrm>
            <a:off x="6446520" y="3977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6995160" y="3877056"/>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Animación</a:t>
            </a:r>
            <a:endParaRPr lang="en-US" sz="1400" dirty="0"/>
          </a:p>
        </p:txBody>
      </p:sp>
      <p:sp>
        <p:nvSpPr>
          <p:cNvPr id="33" name="Text 31"/>
          <p:cNvSpPr txBox="1"/>
          <p:nvPr/>
        </p:nvSpPr>
        <p:spPr>
          <a:xfrm>
            <a:off x="6995160" y="4187952"/>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Transiciones y refuerzo visual del progreso</a:t>
            </a:r>
            <a:endParaRPr lang="en-US" sz="1150" dirty="0"/>
          </a:p>
        </p:txBody>
      </p:sp>
      <p:sp>
        <p:nvSpPr>
          <p:cNvPr id="34" name="Shape 32"/>
          <p:cNvSpPr/>
          <p:nvPr/>
        </p:nvSpPr>
        <p:spPr>
          <a:xfrm>
            <a:off x="548640" y="4700016"/>
            <a:ext cx="5394960" cy="914400"/>
          </a:xfrm>
          <a:prstGeom prst="roundRect">
            <a:avLst>
              <a:gd name="adj" fmla="val 8000"/>
            </a:avLst>
          </a:prstGeom>
          <a:solidFill>
            <a:srgbClr val="FFFFFF"/>
          </a:solidFill>
          <a:ln w="12700">
            <a:solidFill>
              <a:srgbClr val="EDE8E1"/>
            </a:solidFill>
            <a:prstDash val="solid"/>
          </a:ln>
        </p:spPr>
      </p:sp>
      <p:sp>
        <p:nvSpPr>
          <p:cNvPr id="35" name="Shape 33"/>
          <p:cNvSpPr/>
          <p:nvPr/>
        </p:nvSpPr>
        <p:spPr>
          <a:xfrm>
            <a:off x="777240" y="4965192"/>
            <a:ext cx="384048" cy="384048"/>
          </a:xfrm>
          <a:prstGeom prst="ellipse">
            <a:avLst/>
          </a:prstGeom>
          <a:solidFill>
            <a:srgbClr val="C87B1E"/>
          </a:solidFill>
          <a:ln/>
        </p:spPr>
      </p:sp>
      <p:sp>
        <p:nvSpPr>
          <p:cNvPr id="36" name="Text 34"/>
          <p:cNvSpPr txBox="1"/>
          <p:nvPr/>
        </p:nvSpPr>
        <p:spPr>
          <a:xfrm>
            <a:off x="777240" y="4965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325880" y="4864608"/>
            <a:ext cx="4389120" cy="292608"/>
          </a:xfrm>
          <a:prstGeom prst="rect">
            <a:avLst/>
          </a:prstGeom>
          <a:noFill/>
          <a:ln/>
        </p:spPr>
        <p:txBody>
          <a:bodyPr wrap="square" lIns="0" tIns="0" rIns="0" bIns="0" rtlCol="0" anchor="ctr"/>
          <a:lstStyle/>
          <a:p>
            <a:pPr indent="0" marL="0">
              <a:buNone/>
            </a:pPr>
            <a:r>
              <a:rPr lang="en-US" sz="1400" b="1" dirty="0">
                <a:solidFill>
                  <a:srgbClr val="2B2622"/>
                </a:solidFill>
                <a:latin typeface="Calibri" pitchFamily="34" charset="0"/>
                <a:ea typeface="Calibri" pitchFamily="34" charset="-122"/>
                <a:cs typeface="Calibri" pitchFamily="34" charset="-120"/>
              </a:rPr>
              <a:t>Acciones</a:t>
            </a:r>
            <a:endParaRPr lang="en-US" sz="1400" dirty="0"/>
          </a:p>
        </p:txBody>
      </p:sp>
      <p:sp>
        <p:nvSpPr>
          <p:cNvPr id="38" name="Text 36"/>
          <p:cNvSpPr txBox="1"/>
          <p:nvPr/>
        </p:nvSpPr>
        <p:spPr>
          <a:xfrm>
            <a:off x="1325880" y="5175504"/>
            <a:ext cx="4434840" cy="365760"/>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Qué puede hacer el estudiante y qué ocurre en el sistema</a:t>
            </a:r>
            <a:endParaRPr lang="en-US" sz="1150" dirty="0"/>
          </a:p>
        </p:txBody>
      </p:sp>
      <p:sp>
        <p:nvSpPr>
          <p:cNvPr id="39" name="Shape 37"/>
          <p:cNvSpPr/>
          <p:nvPr/>
        </p:nvSpPr>
        <p:spPr>
          <a:xfrm>
            <a:off x="548640" y="5806440"/>
            <a:ext cx="11064240" cy="713232"/>
          </a:xfrm>
          <a:prstGeom prst="roundRect">
            <a:avLst>
              <a:gd name="adj" fmla="val 10256"/>
            </a:avLst>
          </a:prstGeom>
          <a:solidFill>
            <a:srgbClr val="EDE8E1"/>
          </a:solidFill>
          <a:ln w="12700">
            <a:solidFill>
              <a:srgbClr val="EDE8E1"/>
            </a:solidFill>
            <a:prstDash val="solid"/>
          </a:ln>
        </p:spPr>
      </p:sp>
      <p:sp>
        <p:nvSpPr>
          <p:cNvPr id="40" name="Text 38"/>
          <p:cNvSpPr txBox="1"/>
          <p:nvPr/>
        </p:nvSpPr>
        <p:spPr>
          <a:xfrm>
            <a:off x="822960" y="5943600"/>
            <a:ext cx="10515600" cy="502920"/>
          </a:xfrm>
          <a:prstGeom prst="rect">
            <a:avLst/>
          </a:prstGeom>
          <a:noFill/>
          <a:ln/>
        </p:spPr>
        <p:txBody>
          <a:bodyPr wrap="square" lIns="0" tIns="0" rIns="0" bIns="0" rtlCol="0" anchor="ctr"/>
          <a:lstStyle/>
          <a:p>
            <a:pPr indent="0" marL="0">
              <a:buNone/>
            </a:pPr>
            <a:r>
              <a:rPr lang="en-US" sz="1200" i="1" dirty="0">
                <a:solidFill>
                  <a:srgbClr val="2B2622"/>
                </a:solidFill>
                <a:latin typeface="Calibri" pitchFamily="34" charset="0"/>
                <a:ea typeface="Calibri" pitchFamily="34" charset="-122"/>
                <a:cs typeface="Calibri" pitchFamily="34" charset="-120"/>
              </a:rPr>
              <a:t>Dos decisiones deliberadas: el tutor IA no lleva locución (sintetizar voz sobre texto de IA le atribuye autoridad de fuente infalible) y el repaso no lleva video (es recuperación activa; un video lo volvería reconocimiento pasivo).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§3.3.1 · Ejemplo de ficha — V-03 Resolución de ejercicio</a:t>
            </a:r>
            <a:endParaRPr lang="en-US" sz="3400" dirty="0"/>
          </a:p>
        </p:txBody>
      </p:sp>
      <p:pic>
        <p:nvPicPr>
          <p:cNvPr id="3" name="Image 0" descr="/home/claude/out/modesec/assets/png/3.3.1_v03_ejercicio.png">    </p:cNvPr>
          <p:cNvPicPr>
            <a:picLocks noChangeAspect="1"/>
          </p:cNvPicPr>
          <p:nvPr/>
        </p:nvPicPr>
        <p:blipFill>
          <a:blip r:embed="rId1"/>
          <a:stretch>
            <a:fillRect/>
          </a:stretch>
        </p:blipFill>
        <p:spPr>
          <a:xfrm>
            <a:off x="548640" y="1554480"/>
            <a:ext cx="6309360" cy="384048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132320" y="1554480"/>
          <a:ext cx="4480560" cy="914400"/>
        </p:xfrm>
        <a:graphic>
          <a:graphicData uri="http://schemas.openxmlformats.org/drawingml/2006/table">
            <a:tbl>
              <a:tblPr/>
              <a:tblGrid>
                <a:gridCol w="1280160"/>
                <a:gridCol w="3200400"/>
              </a:tblGrid>
              <a:tr h="0">
                <a:tc>
                  <a:txBody>
                    <a:bodyPr/>
                    <a:lstStyle/>
                    <a:p>
                      <a:pPr indent="0" marL="0">
                        <a:buNone/>
                      </a:pPr>
                      <a:r>
                        <a:rPr lang="en-US" sz="1100" b="1" dirty="0">
                          <a:solidFill>
                            <a:srgbClr val="2B2622"/>
                          </a:solidFill>
                          <a:latin typeface="Calibri" pitchFamily="34" charset="0"/>
                          <a:ea typeface="Calibri" pitchFamily="34" charset="-122"/>
                          <a:cs typeface="Calibri" pitchFamily="34" charset="-120"/>
                        </a:rPr>
                        <a:t>Categoría</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b="1" dirty="0">
                          <a:solidFill>
                            <a:srgbClr val="2B2622"/>
                          </a:solidFill>
                          <a:latin typeface="Calibri" pitchFamily="34" charset="0"/>
                          <a:ea typeface="Calibri" pitchFamily="34" charset="-122"/>
                          <a:cs typeface="Calibri" pitchFamily="34" charset="-120"/>
                        </a:rPr>
                        <a:t>Contenido</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Imagen</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Iconos de estado por caso de prueba. Sin decoración.</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Nombre</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V-03_EJERCICIO · “Ejercicio: …”</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Texto</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Enunciado ≤200 palabras + ejemplos E/S + intentos</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Audio</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Solo dos señales, desactivadas por defecto</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Video</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No aplica: obligaría a abandonar el problema</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Animación</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Progreso del juez; casos revelados en secuencia</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Acciones</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Ejecutar · Entregar · Pedir pista · Reiniciar</a:t>
                      </a:r>
                      <a:endParaRPr lang="en-US" sz="1100" dirty="0">
                        <a:latin typeface="Calibri" charset="0"/>
                        <a:ea typeface="Calibri" charset="0"/>
                        <a:cs typeface="Calibri" charset="0"/>
                      </a:endParaRPr>
                    </a:p>
                  </a:txBody>
                  <a:tcPr marL="88900" marR="889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Las seis fichas completas están en docs/modesec/ventanas/3.3.1_FICHAS_VENTANAS.md, cada una con su maqueta.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§3.3.2 · Guía de metáforas — Formato 14</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MODESEC pide una metáfora asociada al contexto de la población, no un catálogo de iconos sueltos</a:t>
            </a:r>
            <a:endParaRPr lang="en-US" sz="1400" dirty="0"/>
          </a:p>
        </p:txBody>
      </p:sp>
      <p:sp>
        <p:nvSpPr>
          <p:cNvPr id="4" name="Shape 2"/>
          <p:cNvSpPr/>
          <p:nvPr/>
        </p:nvSpPr>
        <p:spPr>
          <a:xfrm>
            <a:off x="548640" y="1554480"/>
            <a:ext cx="11064240" cy="1234440"/>
          </a:xfrm>
          <a:prstGeom prst="roundRect">
            <a:avLst>
              <a:gd name="adj" fmla="val 5926"/>
            </a:avLst>
          </a:prstGeom>
          <a:solidFill>
            <a:srgbClr val="EDE8E1"/>
          </a:solidFill>
          <a:ln w="12700">
            <a:solidFill>
              <a:srgbClr val="EDE8E1"/>
            </a:solidFill>
            <a:prstDash val="solid"/>
          </a:ln>
        </p:spPr>
      </p:sp>
      <p:sp>
        <p:nvSpPr>
          <p:cNvPr id="5" name="Text 3"/>
          <p:cNvSpPr txBox="1"/>
          <p:nvPr/>
        </p:nvSpPr>
        <p:spPr>
          <a:xfrm>
            <a:off x="868680" y="1691640"/>
            <a:ext cx="10058400" cy="411480"/>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Metáfora rectora: el taller del algoritmista</a:t>
            </a:r>
            <a:endParaRPr lang="en-US" sz="2200" dirty="0"/>
          </a:p>
        </p:txBody>
      </p:sp>
      <p:sp>
        <p:nvSpPr>
          <p:cNvPr id="6" name="Text 4"/>
          <p:cNvSpPr txBox="1"/>
          <p:nvPr/>
        </p:nvSpPr>
        <p:spPr>
          <a:xfrm>
            <a:off x="868680" y="2148840"/>
            <a:ext cx="10424160" cy="54864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 aprende un oficio produciendo piezas, con un maestro que corrige el procedimiento y no el resultado. El error es una prueba de banco: algo que se hace a propósito, muchas veces, antes de dar por buena una pieza.</a:t>
            </a:r>
            <a:endParaRPr lang="en-US" sz="1250" dirty="0"/>
          </a:p>
        </p:txBody>
      </p:sp>
      <p:sp>
        <p:nvSpPr>
          <p:cNvPr id="7" name="Shape 5"/>
          <p:cNvSpPr/>
          <p:nvPr/>
        </p:nvSpPr>
        <p:spPr>
          <a:xfrm>
            <a:off x="548640" y="2971800"/>
            <a:ext cx="5394960" cy="548640"/>
          </a:xfrm>
          <a:prstGeom prst="roundRect">
            <a:avLst>
              <a:gd name="adj" fmla="val 13333"/>
            </a:avLst>
          </a:prstGeom>
          <a:solidFill>
            <a:srgbClr val="FFFFFF"/>
          </a:solidFill>
          <a:ln w="12700">
            <a:solidFill>
              <a:srgbClr val="EDE8E1"/>
            </a:solidFill>
            <a:prstDash val="solid"/>
          </a:ln>
        </p:spPr>
      </p:sp>
      <p:sp>
        <p:nvSpPr>
          <p:cNvPr id="8" name="Text 6"/>
          <p:cNvSpPr txBox="1"/>
          <p:nvPr/>
        </p:nvSpPr>
        <p:spPr>
          <a:xfrm>
            <a:off x="777240" y="3090672"/>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Ejercicio</a:t>
            </a:r>
            <a:endParaRPr lang="en-US" sz="1200" dirty="0"/>
          </a:p>
        </p:txBody>
      </p:sp>
      <p:sp>
        <p:nvSpPr>
          <p:cNvPr id="9" name="Text 7"/>
          <p:cNvSpPr txBox="1"/>
          <p:nvPr/>
        </p:nvSpPr>
        <p:spPr>
          <a:xfrm>
            <a:off x="3063240" y="3090672"/>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Pieza en el banco</a:t>
            </a:r>
            <a:endParaRPr lang="en-US" sz="1200" dirty="0"/>
          </a:p>
        </p:txBody>
      </p:sp>
      <p:sp>
        <p:nvSpPr>
          <p:cNvPr id="10" name="Shape 8"/>
          <p:cNvSpPr/>
          <p:nvPr/>
        </p:nvSpPr>
        <p:spPr>
          <a:xfrm>
            <a:off x="6217920" y="2971800"/>
            <a:ext cx="5394960" cy="548640"/>
          </a:xfrm>
          <a:prstGeom prst="roundRect">
            <a:avLst>
              <a:gd name="adj" fmla="val 13333"/>
            </a:avLst>
          </a:prstGeom>
          <a:solidFill>
            <a:srgbClr val="FFFFFF"/>
          </a:solidFill>
          <a:ln w="12700">
            <a:solidFill>
              <a:srgbClr val="EDE8E1"/>
            </a:solidFill>
            <a:prstDash val="solid"/>
          </a:ln>
        </p:spPr>
      </p:sp>
      <p:sp>
        <p:nvSpPr>
          <p:cNvPr id="11" name="Text 9"/>
          <p:cNvSpPr txBox="1"/>
          <p:nvPr/>
        </p:nvSpPr>
        <p:spPr>
          <a:xfrm>
            <a:off x="6446520" y="3090672"/>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Ejecutar</a:t>
            </a:r>
            <a:endParaRPr lang="en-US" sz="1200" dirty="0"/>
          </a:p>
        </p:txBody>
      </p:sp>
      <p:sp>
        <p:nvSpPr>
          <p:cNvPr id="12" name="Text 10"/>
          <p:cNvSpPr txBox="1"/>
          <p:nvPr/>
        </p:nvSpPr>
        <p:spPr>
          <a:xfrm>
            <a:off x="8732520" y="3090672"/>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Prueba de banco</a:t>
            </a:r>
            <a:endParaRPr lang="en-US" sz="1200" dirty="0"/>
          </a:p>
        </p:txBody>
      </p:sp>
      <p:sp>
        <p:nvSpPr>
          <p:cNvPr id="13" name="Shape 11"/>
          <p:cNvSpPr/>
          <p:nvPr/>
        </p:nvSpPr>
        <p:spPr>
          <a:xfrm>
            <a:off x="548640" y="3630168"/>
            <a:ext cx="5394960" cy="548640"/>
          </a:xfrm>
          <a:prstGeom prst="roundRect">
            <a:avLst>
              <a:gd name="adj" fmla="val 13333"/>
            </a:avLst>
          </a:prstGeom>
          <a:solidFill>
            <a:srgbClr val="FFFFFF"/>
          </a:solidFill>
          <a:ln w="12700">
            <a:solidFill>
              <a:srgbClr val="EDE8E1"/>
            </a:solidFill>
            <a:prstDash val="solid"/>
          </a:ln>
        </p:spPr>
      </p:sp>
      <p:sp>
        <p:nvSpPr>
          <p:cNvPr id="14" name="Text 12"/>
          <p:cNvSpPr txBox="1"/>
          <p:nvPr/>
        </p:nvSpPr>
        <p:spPr>
          <a:xfrm>
            <a:off x="777240" y="3749040"/>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Intento fallido</a:t>
            </a:r>
            <a:endParaRPr lang="en-US" sz="1200" dirty="0"/>
          </a:p>
        </p:txBody>
      </p:sp>
      <p:sp>
        <p:nvSpPr>
          <p:cNvPr id="15" name="Text 13"/>
          <p:cNvSpPr txBox="1"/>
          <p:nvPr/>
        </p:nvSpPr>
        <p:spPr>
          <a:xfrm>
            <a:off x="3063240" y="3749040"/>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Pieza que no pasa la medida</a:t>
            </a:r>
            <a:endParaRPr lang="en-US" sz="1200" dirty="0"/>
          </a:p>
        </p:txBody>
      </p:sp>
      <p:sp>
        <p:nvSpPr>
          <p:cNvPr id="16" name="Shape 14"/>
          <p:cNvSpPr/>
          <p:nvPr/>
        </p:nvSpPr>
        <p:spPr>
          <a:xfrm>
            <a:off x="6217920" y="3630168"/>
            <a:ext cx="5394960" cy="548640"/>
          </a:xfrm>
          <a:prstGeom prst="roundRect">
            <a:avLst>
              <a:gd name="adj" fmla="val 13333"/>
            </a:avLst>
          </a:prstGeom>
          <a:solidFill>
            <a:srgbClr val="FFFFFF"/>
          </a:solidFill>
          <a:ln w="12700">
            <a:solidFill>
              <a:srgbClr val="EDE8E1"/>
            </a:solidFill>
            <a:prstDash val="solid"/>
          </a:ln>
        </p:spPr>
      </p:sp>
      <p:sp>
        <p:nvSpPr>
          <p:cNvPr id="17" name="Text 15"/>
          <p:cNvSpPr txBox="1"/>
          <p:nvPr/>
        </p:nvSpPr>
        <p:spPr>
          <a:xfrm>
            <a:off x="6446520" y="3749040"/>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Tutor IA</a:t>
            </a:r>
            <a:endParaRPr lang="en-US" sz="1200" dirty="0"/>
          </a:p>
        </p:txBody>
      </p:sp>
      <p:sp>
        <p:nvSpPr>
          <p:cNvPr id="18" name="Text 16"/>
          <p:cNvSpPr txBox="1"/>
          <p:nvPr/>
        </p:nvSpPr>
        <p:spPr>
          <a:xfrm>
            <a:off x="8732520" y="3749040"/>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Maestro de taller</a:t>
            </a:r>
            <a:endParaRPr lang="en-US" sz="1200" dirty="0"/>
          </a:p>
        </p:txBody>
      </p:sp>
      <p:sp>
        <p:nvSpPr>
          <p:cNvPr id="19" name="Shape 17"/>
          <p:cNvSpPr/>
          <p:nvPr/>
        </p:nvSpPr>
        <p:spPr>
          <a:xfrm>
            <a:off x="548640" y="4288536"/>
            <a:ext cx="5394960" cy="548640"/>
          </a:xfrm>
          <a:prstGeom prst="roundRect">
            <a:avLst>
              <a:gd name="adj" fmla="val 13333"/>
            </a:avLst>
          </a:prstGeom>
          <a:solidFill>
            <a:srgbClr val="FFFFFF"/>
          </a:solidFill>
          <a:ln w="12700">
            <a:solidFill>
              <a:srgbClr val="EDE8E1"/>
            </a:solidFill>
            <a:prstDash val="solid"/>
          </a:ln>
        </p:spPr>
      </p:sp>
      <p:sp>
        <p:nvSpPr>
          <p:cNvPr id="20" name="Text 18"/>
          <p:cNvSpPr txBox="1"/>
          <p:nvPr/>
        </p:nvSpPr>
        <p:spPr>
          <a:xfrm>
            <a:off x="777240" y="4407408"/>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Casos de prueba</a:t>
            </a:r>
            <a:endParaRPr lang="en-US" sz="1200" dirty="0"/>
          </a:p>
        </p:txBody>
      </p:sp>
      <p:sp>
        <p:nvSpPr>
          <p:cNvPr id="21" name="Text 19"/>
          <p:cNvSpPr txBox="1"/>
          <p:nvPr/>
        </p:nvSpPr>
        <p:spPr>
          <a:xfrm>
            <a:off x="3063240" y="4407408"/>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Calibradores</a:t>
            </a:r>
            <a:endParaRPr lang="en-US" sz="1200" dirty="0"/>
          </a:p>
        </p:txBody>
      </p:sp>
      <p:sp>
        <p:nvSpPr>
          <p:cNvPr id="22" name="Shape 20"/>
          <p:cNvSpPr/>
          <p:nvPr/>
        </p:nvSpPr>
        <p:spPr>
          <a:xfrm>
            <a:off x="6217920" y="4288536"/>
            <a:ext cx="5394960" cy="548640"/>
          </a:xfrm>
          <a:prstGeom prst="roundRect">
            <a:avLst>
              <a:gd name="adj" fmla="val 13333"/>
            </a:avLst>
          </a:prstGeom>
          <a:solidFill>
            <a:srgbClr val="FFFFFF"/>
          </a:solidFill>
          <a:ln w="12700">
            <a:solidFill>
              <a:srgbClr val="EDE8E1"/>
            </a:solidFill>
            <a:prstDash val="solid"/>
          </a:ln>
        </p:spPr>
      </p:sp>
      <p:sp>
        <p:nvSpPr>
          <p:cNvPr id="23" name="Text 21"/>
          <p:cNvSpPr txBox="1"/>
          <p:nvPr/>
        </p:nvSpPr>
        <p:spPr>
          <a:xfrm>
            <a:off x="6446520" y="4407408"/>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Dominio (mastery)</a:t>
            </a:r>
            <a:endParaRPr lang="en-US" sz="1200" dirty="0"/>
          </a:p>
        </p:txBody>
      </p:sp>
      <p:sp>
        <p:nvSpPr>
          <p:cNvPr id="24" name="Text 22"/>
          <p:cNvSpPr txBox="1"/>
          <p:nvPr/>
        </p:nvSpPr>
        <p:spPr>
          <a:xfrm>
            <a:off x="8732520" y="4407408"/>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Temple de la herramienta</a:t>
            </a:r>
            <a:endParaRPr lang="en-US" sz="1200" dirty="0"/>
          </a:p>
        </p:txBody>
      </p:sp>
      <p:sp>
        <p:nvSpPr>
          <p:cNvPr id="25" name="Shape 23"/>
          <p:cNvSpPr/>
          <p:nvPr/>
        </p:nvSpPr>
        <p:spPr>
          <a:xfrm>
            <a:off x="548640" y="4946904"/>
            <a:ext cx="5394960" cy="548640"/>
          </a:xfrm>
          <a:prstGeom prst="roundRect">
            <a:avLst>
              <a:gd name="adj" fmla="val 13333"/>
            </a:avLst>
          </a:prstGeom>
          <a:solidFill>
            <a:srgbClr val="FFFFFF"/>
          </a:solidFill>
          <a:ln w="12700">
            <a:solidFill>
              <a:srgbClr val="EDE8E1"/>
            </a:solidFill>
            <a:prstDash val="solid"/>
          </a:ln>
        </p:spPr>
      </p:sp>
      <p:sp>
        <p:nvSpPr>
          <p:cNvPr id="26" name="Text 24"/>
          <p:cNvSpPr txBox="1"/>
          <p:nvPr/>
        </p:nvSpPr>
        <p:spPr>
          <a:xfrm>
            <a:off x="777240" y="5065776"/>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Repaso SM-2</a:t>
            </a:r>
            <a:endParaRPr lang="en-US" sz="1200" dirty="0"/>
          </a:p>
        </p:txBody>
      </p:sp>
      <p:sp>
        <p:nvSpPr>
          <p:cNvPr id="27" name="Text 25"/>
          <p:cNvSpPr txBox="1"/>
          <p:nvPr/>
        </p:nvSpPr>
        <p:spPr>
          <a:xfrm>
            <a:off x="3063240" y="5065776"/>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Mantenimiento del herramental</a:t>
            </a:r>
            <a:endParaRPr lang="en-US" sz="1200" dirty="0"/>
          </a:p>
        </p:txBody>
      </p:sp>
      <p:sp>
        <p:nvSpPr>
          <p:cNvPr id="28" name="Shape 26"/>
          <p:cNvSpPr/>
          <p:nvPr/>
        </p:nvSpPr>
        <p:spPr>
          <a:xfrm>
            <a:off x="6217920" y="4946904"/>
            <a:ext cx="5394960" cy="548640"/>
          </a:xfrm>
          <a:prstGeom prst="roundRect">
            <a:avLst>
              <a:gd name="adj" fmla="val 13333"/>
            </a:avLst>
          </a:prstGeom>
          <a:solidFill>
            <a:srgbClr val="FFFFFF"/>
          </a:solidFill>
          <a:ln w="12700">
            <a:solidFill>
              <a:srgbClr val="EDE8E1"/>
            </a:solidFill>
            <a:prstDash val="solid"/>
          </a:ln>
        </p:spPr>
      </p:sp>
      <p:sp>
        <p:nvSpPr>
          <p:cNvPr id="29" name="Text 27"/>
          <p:cNvSpPr txBox="1"/>
          <p:nvPr/>
        </p:nvSpPr>
        <p:spPr>
          <a:xfrm>
            <a:off x="6446520" y="5065776"/>
            <a:ext cx="2286000" cy="310896"/>
          </a:xfrm>
          <a:prstGeom prst="rect">
            <a:avLst/>
          </a:prstGeom>
          <a:noFill/>
          <a:ln/>
        </p:spPr>
        <p:txBody>
          <a:bodyPr wrap="square" lIns="0" tIns="0" rIns="0" bIns="0" rtlCol="0" anchor="ctr"/>
          <a:lstStyle/>
          <a:p>
            <a:pPr indent="0" marL="0">
              <a:buNone/>
            </a:pPr>
            <a:r>
              <a:rPr lang="en-US" sz="1200" dirty="0">
                <a:solidFill>
                  <a:srgbClr val="7A716A"/>
                </a:solidFill>
                <a:latin typeface="Calibri" pitchFamily="34" charset="0"/>
                <a:ea typeface="Calibri" pitchFamily="34" charset="-122"/>
                <a:cs typeface="Calibri" pitchFamily="34" charset="-120"/>
              </a:rPr>
              <a:t>Unidad bloqueada</a:t>
            </a:r>
            <a:endParaRPr lang="en-US" sz="1200" dirty="0"/>
          </a:p>
        </p:txBody>
      </p:sp>
      <p:sp>
        <p:nvSpPr>
          <p:cNvPr id="30" name="Text 28"/>
          <p:cNvSpPr txBox="1"/>
          <p:nvPr/>
        </p:nvSpPr>
        <p:spPr>
          <a:xfrm>
            <a:off x="8732520" y="5065776"/>
            <a:ext cx="2743200" cy="310896"/>
          </a:xfrm>
          <a:prstGeom prst="rect">
            <a:avLst/>
          </a:prstGeom>
          <a:noFill/>
          <a:ln/>
        </p:spPr>
        <p:txBody>
          <a:bodyPr wrap="square" lIns="0" tIns="0" rIns="0" bIns="0" rtlCol="0" anchor="ctr"/>
          <a:lstStyle/>
          <a:p>
            <a:pPr indent="0" marL="0">
              <a:buNone/>
            </a:pPr>
            <a:r>
              <a:rPr lang="en-US" sz="1200" b="1" dirty="0">
                <a:solidFill>
                  <a:srgbClr val="2B2622"/>
                </a:solidFill>
                <a:latin typeface="Calibri" pitchFamily="34" charset="0"/>
                <a:ea typeface="Calibri" pitchFamily="34" charset="-122"/>
                <a:cs typeface="Calibri" pitchFamily="34" charset="-120"/>
              </a:rPr>
              <a:t>→  Encargo fuera de tu nivel</a:t>
            </a:r>
            <a:endParaRPr lang="en-US" sz="1200" dirty="0"/>
          </a:p>
        </p:txBody>
      </p:sp>
      <p:sp>
        <p:nvSpPr>
          <p:cNvPr id="31" name="Shape 29"/>
          <p:cNvSpPr/>
          <p:nvPr/>
        </p:nvSpPr>
        <p:spPr>
          <a:xfrm>
            <a:off x="548640" y="5852160"/>
            <a:ext cx="11064240" cy="640080"/>
          </a:xfrm>
          <a:prstGeom prst="roundRect">
            <a:avLst>
              <a:gd name="adj" fmla="val 11429"/>
            </a:avLst>
          </a:prstGeom>
          <a:solidFill>
            <a:srgbClr val="F6F3EF"/>
          </a:solidFill>
          <a:ln w="12700">
            <a:solidFill>
              <a:srgbClr val="EDE8E1"/>
            </a:solidFill>
            <a:prstDash val="solid"/>
          </a:ln>
        </p:spPr>
      </p:sp>
      <p:sp>
        <p:nvSpPr>
          <p:cNvPr id="32" name="Text 30"/>
          <p:cNvSpPr txBox="1"/>
          <p:nvPr/>
        </p:nvSpPr>
        <p:spPr>
          <a:xfrm>
            <a:off x="822960" y="5961888"/>
            <a:ext cx="10515600" cy="457200"/>
          </a:xfrm>
          <a:prstGeom prst="rect">
            <a:avLst/>
          </a:prstGeom>
          <a:noFill/>
          <a:ln/>
        </p:spPr>
        <p:txBody>
          <a:bodyPr wrap="square" lIns="0" tIns="0" rIns="0" bIns="0" rtlCol="0" anchor="ctr"/>
          <a:lstStyle/>
          <a:p>
            <a:pPr indent="0" marL="0">
              <a:buNone/>
            </a:pPr>
            <a:r>
              <a:rPr lang="en-US" sz="1200" i="1" dirty="0">
                <a:solidFill>
                  <a:srgbClr val="2B2622"/>
                </a:solidFill>
                <a:latin typeface="Calibri" pitchFamily="34" charset="0"/>
                <a:ea typeface="Calibri" pitchFamily="34" charset="-122"/>
                <a:cs typeface="Calibri" pitchFamily="34" charset="-120"/>
              </a:rPr>
              <a:t>Consecuencia visual: paleta de taller, acento ámbar único, iconografía de herramienta. Prohibidos trofeos, medallas y cofres: contradicen el encuadre de oficio y desplazan la motivación intrínseca.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§3.3.2 · Los doce iconos de la guía de metáforas</a:t>
            </a:r>
            <a:endParaRPr lang="en-US" sz="3400" dirty="0"/>
          </a:p>
        </p:txBody>
      </p:sp>
      <p:pic>
        <p:nvPicPr>
          <p:cNvPr id="3" name="Image 0" descr="/home/claude/out/modesec/assets/png/3.3.2_guia_metaforas.png">    </p:cNvPr>
          <p:cNvPicPr>
            <a:picLocks noChangeAspect="1"/>
          </p:cNvPicPr>
          <p:nvPr/>
        </p:nvPicPr>
        <p:blipFill>
          <a:blip r:embed="rId1"/>
          <a:stretch>
            <a:fillRect/>
          </a:stretch>
        </p:blipFill>
        <p:spPr>
          <a:xfrm>
            <a:off x="731520" y="1371600"/>
            <a:ext cx="10698480" cy="47091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§3.3.3 · Mapa de navegación — Gráfico 2</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Ocho ventanas, quince transiciones, seis reglas verificadas</a:t>
            </a:r>
            <a:endParaRPr lang="en-US" sz="1400" dirty="0"/>
          </a:p>
        </p:txBody>
      </p:sp>
      <p:pic>
        <p:nvPicPr>
          <p:cNvPr id="4" name="Image 0" descr="/home/claude/out/modesec/assets/png/3.3.3_mapa_navegacion.png">    </p:cNvPr>
          <p:cNvPicPr>
            <a:picLocks noChangeAspect="1"/>
          </p:cNvPicPr>
          <p:nvPr/>
        </p:nvPicPr>
        <p:blipFill>
          <a:blip r:embed="rId1"/>
          <a:stretch>
            <a:fillRect/>
          </a:stretch>
        </p:blipFill>
        <p:spPr>
          <a:xfrm>
            <a:off x="822960" y="1463040"/>
            <a:ext cx="10515600"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§3.3.3 · Cuatro decisiones de navegación y su razón</a:t>
            </a:r>
            <a:endParaRPr lang="en-US" sz="3400" dirty="0"/>
          </a:p>
        </p:txBody>
      </p:sp>
      <p:sp>
        <p:nvSpPr>
          <p:cNvPr id="3" name="Shape 1"/>
          <p:cNvSpPr/>
          <p:nvPr/>
        </p:nvSpPr>
        <p:spPr>
          <a:xfrm>
            <a:off x="548640" y="1783080"/>
            <a:ext cx="11064240" cy="1042416"/>
          </a:xfrm>
          <a:prstGeom prst="roundRect">
            <a:avLst>
              <a:gd name="adj" fmla="val 7018"/>
            </a:avLst>
          </a:prstGeom>
          <a:solidFill>
            <a:srgbClr val="FFFFFF"/>
          </a:solidFill>
          <a:ln w="12700">
            <a:solidFill>
              <a:srgbClr val="EDE8E1"/>
            </a:solidFill>
            <a:prstDash val="solid"/>
          </a:ln>
        </p:spPr>
      </p:sp>
      <p:sp>
        <p:nvSpPr>
          <p:cNvPr id="4" name="Shape 2"/>
          <p:cNvSpPr/>
          <p:nvPr/>
        </p:nvSpPr>
        <p:spPr>
          <a:xfrm>
            <a:off x="822960" y="2112264"/>
            <a:ext cx="384048" cy="384048"/>
          </a:xfrm>
          <a:prstGeom prst="ellipse">
            <a:avLst/>
          </a:prstGeom>
          <a:solidFill>
            <a:srgbClr val="C87B1E"/>
          </a:solidFill>
          <a:ln/>
        </p:spPr>
      </p:sp>
      <p:sp>
        <p:nvSpPr>
          <p:cNvPr id="5" name="Text 3"/>
          <p:cNvSpPr txBox="1"/>
          <p:nvPr/>
        </p:nvSpPr>
        <p:spPr>
          <a:xfrm>
            <a:off x="822960" y="2112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71600" y="1929384"/>
            <a:ext cx="9966960" cy="329184"/>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V-01 es un hub, no una portada</a:t>
            </a:r>
            <a:endParaRPr lang="en-US" sz="1500" dirty="0"/>
          </a:p>
        </p:txBody>
      </p:sp>
      <p:sp>
        <p:nvSpPr>
          <p:cNvPr id="7" name="Text 5"/>
          <p:cNvSpPr txBox="1"/>
          <p:nvPr/>
        </p:nvSpPr>
        <p:spPr>
          <a:xfrm>
            <a:off x="1371600" y="2286000"/>
            <a:ext cx="9966960" cy="457200"/>
          </a:xfrm>
          <a:prstGeom prst="rect">
            <a:avLst/>
          </a:prstGeom>
          <a:noFill/>
          <a:ln/>
        </p:spPr>
        <p:txBody>
          <a:bodyPr wrap="square" lIns="0" tIns="0" rIns="0" bIns="0" rtlCol="0" anchor="ctr"/>
          <a:lstStyle/>
          <a:p>
            <a:pPr indent="0" marL="0">
              <a:buNone/>
            </a:pPr>
            <a:r>
              <a:rPr lang="en-US" sz="1250" dirty="0">
                <a:solidFill>
                  <a:srgbClr val="7A716A"/>
                </a:solidFill>
                <a:latin typeface="Calibri" pitchFamily="34" charset="0"/>
                <a:ea typeface="Calibri" pitchFamily="34" charset="-122"/>
                <a:cs typeface="Calibri" pitchFamily="34" charset="-120"/>
              </a:rPr>
              <a:t>El estudiante entra con una pregunta concreta —¿qué hago hoy?— y el sistema ya sabe la respuesta. Una bienvenida decorativa gasta su primer clic.</a:t>
            </a:r>
            <a:endParaRPr lang="en-US" sz="1250" dirty="0"/>
          </a:p>
        </p:txBody>
      </p:sp>
      <p:sp>
        <p:nvSpPr>
          <p:cNvPr id="8" name="Shape 6"/>
          <p:cNvSpPr/>
          <p:nvPr/>
        </p:nvSpPr>
        <p:spPr>
          <a:xfrm>
            <a:off x="548640" y="2953512"/>
            <a:ext cx="11064240" cy="1042416"/>
          </a:xfrm>
          <a:prstGeom prst="roundRect">
            <a:avLst>
              <a:gd name="adj" fmla="val 7018"/>
            </a:avLst>
          </a:prstGeom>
          <a:solidFill>
            <a:srgbClr val="F6F3EF"/>
          </a:solidFill>
          <a:ln w="12700">
            <a:solidFill>
              <a:srgbClr val="EDE8E1"/>
            </a:solidFill>
            <a:prstDash val="solid"/>
          </a:ln>
        </p:spPr>
      </p:sp>
      <p:sp>
        <p:nvSpPr>
          <p:cNvPr id="9" name="Shape 7"/>
          <p:cNvSpPr/>
          <p:nvPr/>
        </p:nvSpPr>
        <p:spPr>
          <a:xfrm>
            <a:off x="822960" y="3282696"/>
            <a:ext cx="384048" cy="384048"/>
          </a:xfrm>
          <a:prstGeom prst="ellipse">
            <a:avLst/>
          </a:prstGeom>
          <a:solidFill>
            <a:srgbClr val="C87B1E"/>
          </a:solidFill>
          <a:ln/>
        </p:spPr>
      </p:sp>
      <p:sp>
        <p:nvSpPr>
          <p:cNvPr id="10" name="Text 8"/>
          <p:cNvSpPr txBox="1"/>
          <p:nvPr/>
        </p:nvSpPr>
        <p:spPr>
          <a:xfrm>
            <a:off x="82296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371600" y="3099816"/>
            <a:ext cx="9966960" cy="329184"/>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El tutor es modal, no una sección</a:t>
            </a:r>
            <a:endParaRPr lang="en-US" sz="1500" dirty="0"/>
          </a:p>
        </p:txBody>
      </p:sp>
      <p:sp>
        <p:nvSpPr>
          <p:cNvPr id="12" name="Text 10"/>
          <p:cNvSpPr txBox="1"/>
          <p:nvPr/>
        </p:nvSpPr>
        <p:spPr>
          <a:xfrm>
            <a:off x="1371600" y="3456432"/>
            <a:ext cx="9966960" cy="457200"/>
          </a:xfrm>
          <a:prstGeom prst="rect">
            <a:avLst/>
          </a:prstGeom>
          <a:noFill/>
          <a:ln/>
        </p:spPr>
        <p:txBody>
          <a:bodyPr wrap="square" lIns="0" tIns="0" rIns="0" bIns="0" rtlCol="0" anchor="ctr"/>
          <a:lstStyle/>
          <a:p>
            <a:pPr indent="0" marL="0">
              <a:buNone/>
            </a:pPr>
            <a:r>
              <a:rPr lang="en-US" sz="1250" dirty="0">
                <a:solidFill>
                  <a:srgbClr val="7A716A"/>
                </a:solidFill>
                <a:latin typeface="Calibri" pitchFamily="34" charset="0"/>
                <a:ea typeface="Calibri" pitchFamily="34" charset="-122"/>
                <a:cs typeface="Calibri" pitchFamily="34" charset="-120"/>
              </a:rPr>
              <a:t>Si fuera un destino, el estudiante podría “irse a preguntar” abandonando el problema. Siendo modal, consulta con el código a la vista.</a:t>
            </a:r>
            <a:endParaRPr lang="en-US" sz="1250" dirty="0"/>
          </a:p>
        </p:txBody>
      </p:sp>
      <p:sp>
        <p:nvSpPr>
          <p:cNvPr id="13" name="Shape 11"/>
          <p:cNvSpPr/>
          <p:nvPr/>
        </p:nvSpPr>
        <p:spPr>
          <a:xfrm>
            <a:off x="548640" y="4123944"/>
            <a:ext cx="11064240" cy="1042416"/>
          </a:xfrm>
          <a:prstGeom prst="roundRect">
            <a:avLst>
              <a:gd name="adj" fmla="val 7018"/>
            </a:avLst>
          </a:prstGeom>
          <a:solidFill>
            <a:srgbClr val="FFFFFF"/>
          </a:solidFill>
          <a:ln w="12700">
            <a:solidFill>
              <a:srgbClr val="EDE8E1"/>
            </a:solidFill>
            <a:prstDash val="solid"/>
          </a:ln>
        </p:spPr>
      </p:sp>
      <p:sp>
        <p:nvSpPr>
          <p:cNvPr id="14" name="Shape 12"/>
          <p:cNvSpPr/>
          <p:nvPr/>
        </p:nvSpPr>
        <p:spPr>
          <a:xfrm>
            <a:off x="822960" y="4453128"/>
            <a:ext cx="384048" cy="384048"/>
          </a:xfrm>
          <a:prstGeom prst="ellipse">
            <a:avLst/>
          </a:prstGeom>
          <a:solidFill>
            <a:srgbClr val="C87B1E"/>
          </a:solidFill>
          <a:ln/>
        </p:spPr>
      </p:sp>
      <p:sp>
        <p:nvSpPr>
          <p:cNvPr id="15" name="Text 13"/>
          <p:cNvSpPr txBox="1"/>
          <p:nvPr/>
        </p:nvSpPr>
        <p:spPr>
          <a:xfrm>
            <a:off x="82296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4270248"/>
            <a:ext cx="9966960" cy="329184"/>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El repaso no se puede adelantar</a:t>
            </a:r>
            <a:endParaRPr lang="en-US" sz="1500" dirty="0"/>
          </a:p>
        </p:txBody>
      </p:sp>
      <p:sp>
        <p:nvSpPr>
          <p:cNvPr id="17" name="Text 15"/>
          <p:cNvSpPr txBox="1"/>
          <p:nvPr/>
        </p:nvSpPr>
        <p:spPr>
          <a:xfrm>
            <a:off x="1371600" y="4626864"/>
            <a:ext cx="9966960" cy="457200"/>
          </a:xfrm>
          <a:prstGeom prst="rect">
            <a:avLst/>
          </a:prstGeom>
          <a:noFill/>
          <a:ln/>
        </p:spPr>
        <p:txBody>
          <a:bodyPr wrap="square" lIns="0" tIns="0" rIns="0" bIns="0" rtlCol="0" anchor="ctr"/>
          <a:lstStyle/>
          <a:p>
            <a:pPr indent="0" marL="0">
              <a:buNone/>
            </a:pPr>
            <a:r>
              <a:rPr lang="en-US" sz="1250" dirty="0">
                <a:solidFill>
                  <a:srgbClr val="7A716A"/>
                </a:solidFill>
                <a:latin typeface="Calibri" pitchFamily="34" charset="0"/>
                <a:ea typeface="Calibri" pitchFamily="34" charset="-122"/>
                <a:cs typeface="Calibri" pitchFamily="34" charset="-120"/>
              </a:rPr>
              <a:t>Lo programa SM-2. Si el estudiante pudiera adelantarlo a voluntad, el algoritmo perdería el efecto que depende justamente del intervalo.</a:t>
            </a:r>
            <a:endParaRPr lang="en-US" sz="1250" dirty="0"/>
          </a:p>
        </p:txBody>
      </p:sp>
      <p:sp>
        <p:nvSpPr>
          <p:cNvPr id="18" name="Shape 16"/>
          <p:cNvSpPr/>
          <p:nvPr/>
        </p:nvSpPr>
        <p:spPr>
          <a:xfrm>
            <a:off x="548640" y="5294376"/>
            <a:ext cx="11064240" cy="1042416"/>
          </a:xfrm>
          <a:prstGeom prst="roundRect">
            <a:avLst>
              <a:gd name="adj" fmla="val 7018"/>
            </a:avLst>
          </a:prstGeom>
          <a:solidFill>
            <a:srgbClr val="F6F3EF"/>
          </a:solidFill>
          <a:ln w="12700">
            <a:solidFill>
              <a:srgbClr val="EDE8E1"/>
            </a:solidFill>
            <a:prstDash val="solid"/>
          </a:ln>
        </p:spPr>
      </p:sp>
      <p:sp>
        <p:nvSpPr>
          <p:cNvPr id="19" name="Shape 17"/>
          <p:cNvSpPr/>
          <p:nvPr/>
        </p:nvSpPr>
        <p:spPr>
          <a:xfrm>
            <a:off x="822960" y="5623560"/>
            <a:ext cx="384048" cy="384048"/>
          </a:xfrm>
          <a:prstGeom prst="ellipse">
            <a:avLst/>
          </a:prstGeom>
          <a:solidFill>
            <a:srgbClr val="C87B1E"/>
          </a:solidFill>
          <a:ln/>
        </p:spPr>
      </p:sp>
      <p:sp>
        <p:nvSpPr>
          <p:cNvPr id="20" name="Text 18"/>
          <p:cNvSpPr txBox="1"/>
          <p:nvPr/>
        </p:nvSpPr>
        <p:spPr>
          <a:xfrm>
            <a:off x="822960" y="5623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371600" y="5440680"/>
            <a:ext cx="9966960" cy="329184"/>
          </a:xfrm>
          <a:prstGeom prst="rect">
            <a:avLst/>
          </a:prstGeom>
          <a:noFill/>
          <a:ln/>
        </p:spPr>
        <p:txBody>
          <a:bodyPr wrap="square" lIns="0" tIns="0" rIns="0" bIns="0" rtlCol="0" anchor="ctr"/>
          <a:lstStyle/>
          <a:p>
            <a:pPr indent="0" marL="0">
              <a:buNone/>
            </a:pPr>
            <a:r>
              <a:rPr lang="en-US" sz="1500" b="1" dirty="0">
                <a:solidFill>
                  <a:srgbClr val="2B2622"/>
                </a:solidFill>
                <a:latin typeface="Calibri" pitchFamily="34" charset="0"/>
                <a:ea typeface="Calibri" pitchFamily="34" charset="-122"/>
                <a:cs typeface="Calibri" pitchFamily="34" charset="-120"/>
              </a:rPr>
              <a:t>La entrega tiene fricción deliberada</a:t>
            </a:r>
            <a:endParaRPr lang="en-US" sz="1500" dirty="0"/>
          </a:p>
        </p:txBody>
      </p:sp>
      <p:sp>
        <p:nvSpPr>
          <p:cNvPr id="22" name="Text 20"/>
          <p:cNvSpPr txBox="1"/>
          <p:nvPr/>
        </p:nvSpPr>
        <p:spPr>
          <a:xfrm>
            <a:off x="1371600" y="5797296"/>
            <a:ext cx="9966960" cy="457200"/>
          </a:xfrm>
          <a:prstGeom prst="rect">
            <a:avLst/>
          </a:prstGeom>
          <a:noFill/>
          <a:ln/>
        </p:spPr>
        <p:txBody>
          <a:bodyPr wrap="square" lIns="0" tIns="0" rIns="0" bIns="0" rtlCol="0" anchor="ctr"/>
          <a:lstStyle/>
          <a:p>
            <a:pPr indent="0" marL="0">
              <a:buNone/>
            </a:pPr>
            <a:r>
              <a:rPr lang="en-US" sz="1250" dirty="0">
                <a:solidFill>
                  <a:srgbClr val="7A716A"/>
                </a:solidFill>
                <a:latin typeface="Calibri" pitchFamily="34" charset="0"/>
                <a:ea typeface="Calibri" pitchFamily="34" charset="-122"/>
                <a:cs typeface="Calibri" pitchFamily="34" charset="-120"/>
              </a:rPr>
              <a:t>Es la única transición irreversible y la única que pide confirmación. La fricción comunica que ahí cambia el estado académico.</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Cómo quedó organizado en Git</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docs/modesec/ — y por qué se organizó así</a:t>
            </a:r>
            <a:endParaRPr lang="en-US" sz="1400" dirty="0"/>
          </a:p>
        </p:txBody>
      </p:sp>
      <p:sp>
        <p:nvSpPr>
          <p:cNvPr id="4" name="Shape 2"/>
          <p:cNvSpPr/>
          <p:nvPr/>
        </p:nvSpPr>
        <p:spPr>
          <a:xfrm>
            <a:off x="548640" y="1600200"/>
            <a:ext cx="5394960" cy="4480560"/>
          </a:xfrm>
          <a:prstGeom prst="roundRect">
            <a:avLst>
              <a:gd name="adj" fmla="val 1633"/>
            </a:avLst>
          </a:prstGeom>
          <a:solidFill>
            <a:srgbClr val="241F1B"/>
          </a:solidFill>
          <a:ln w="12700">
            <a:solidFill>
              <a:srgbClr val="EDE8E1"/>
            </a:solidFill>
            <a:prstDash val="solid"/>
          </a:ln>
        </p:spPr>
      </p:sp>
      <p:sp>
        <p:nvSpPr>
          <p:cNvPr id="5" name="Text 3"/>
          <p:cNvSpPr txBox="1"/>
          <p:nvPr/>
        </p:nvSpPr>
        <p:spPr>
          <a:xfrm>
            <a:off x="822960" y="1828800"/>
            <a:ext cx="4937760" cy="4023360"/>
          </a:xfrm>
          <a:prstGeom prst="rect">
            <a:avLst/>
          </a:prstGeom>
          <a:noFill/>
          <a:ln/>
        </p:spPr>
        <p:txBody>
          <a:bodyPr wrap="square" lIns="0" tIns="0" rIns="0" bIns="0" rtlCol="0" anchor="ctr"/>
          <a:lstStyle/>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docs/modesec/</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README.md              índice y estado</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00_QUE_ES_MODESEC.md   el modelo explicado</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01_GAP_Y_PLAN.md       qué falta y quién</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PLANTILLAS_...md       plantillas vacías</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FASE_II_...md          consolidado</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contenidos/   3.1 · 3.3.2 · 3.3.3</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guiones/      3.2 (Formatos 10 y 11)</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ventanas/     3.3 · 3.3.1</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assets/       SVG fuente + PNG render</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 icons/    12 iconos individuales</a:t>
            </a:r>
            <a:endParaRPr lang="en-US" sz="1150" dirty="0"/>
          </a:p>
          <a:p>
            <a:pPr indent="0" marL="0">
              <a:lnSpc>
                <a:spcPts val="1900"/>
              </a:lnSpc>
              <a:buNone/>
            </a:pPr>
            <a:r>
              <a:rPr lang="en-US" sz="1150" dirty="0">
                <a:solidFill>
                  <a:srgbClr val="EDE8E1"/>
                </a:solidFill>
                <a:latin typeface="Courier New" pitchFamily="34" charset="0"/>
                <a:ea typeface="Courier New" pitchFamily="34" charset="-122"/>
                <a:cs typeface="Courier New" pitchFamily="34" charset="-120"/>
              </a:rPr>
              <a:t>└── entregables/  esta presentación</a:t>
            </a:r>
            <a:endParaRPr lang="en-US" sz="1150" dirty="0"/>
          </a:p>
        </p:txBody>
      </p:sp>
      <p:sp>
        <p:nvSpPr>
          <p:cNvPr id="6" name="Shape 4"/>
          <p:cNvSpPr/>
          <p:nvPr/>
        </p:nvSpPr>
        <p:spPr>
          <a:xfrm>
            <a:off x="6217920" y="1600200"/>
            <a:ext cx="5394960" cy="1005840"/>
          </a:xfrm>
          <a:prstGeom prst="roundRect">
            <a:avLst>
              <a:gd name="adj" fmla="val 7273"/>
            </a:avLst>
          </a:prstGeom>
          <a:solidFill>
            <a:srgbClr val="F6F3EF"/>
          </a:solidFill>
          <a:ln w="12700">
            <a:solidFill>
              <a:srgbClr val="EDE8E1"/>
            </a:solidFill>
            <a:prstDash val="solid"/>
          </a:ln>
        </p:spPr>
      </p:sp>
      <p:sp>
        <p:nvSpPr>
          <p:cNvPr id="7" name="Text 5"/>
          <p:cNvSpPr txBox="1"/>
          <p:nvPr/>
        </p:nvSpPr>
        <p:spPr>
          <a:xfrm>
            <a:off x="6492240" y="1709928"/>
            <a:ext cx="4846320" cy="320040"/>
          </a:xfrm>
          <a:prstGeom prst="rect">
            <a:avLst/>
          </a:prstGeom>
          <a:noFill/>
          <a:ln/>
        </p:spPr>
        <p:txBody>
          <a:bodyPr wrap="square" lIns="0" tIns="0" rIns="0" bIns="0" rtlCol="0" anchor="ctr"/>
          <a:lstStyle/>
          <a:p>
            <a:pPr indent="0" marL="0">
              <a:buNone/>
            </a:pPr>
            <a:r>
              <a:rPr lang="en-US" sz="1250" b="1" dirty="0">
                <a:solidFill>
                  <a:srgbClr val="C87B1E"/>
                </a:solidFill>
                <a:latin typeface="Calibri" pitchFamily="34" charset="0"/>
                <a:ea typeface="Calibri" pitchFamily="34" charset="-122"/>
                <a:cs typeface="Calibri" pitchFamily="34" charset="-120"/>
              </a:rPr>
              <a:t>Una carpeta por tipo de pieza, no por persona</a:t>
            </a:r>
            <a:endParaRPr lang="en-US" sz="1250" dirty="0"/>
          </a:p>
        </p:txBody>
      </p:sp>
      <p:sp>
        <p:nvSpPr>
          <p:cNvPr id="8" name="Text 6"/>
          <p:cNvSpPr txBox="1"/>
          <p:nvPr/>
        </p:nvSpPr>
        <p:spPr>
          <a:xfrm>
            <a:off x="6492240" y="2020824"/>
            <a:ext cx="4846320" cy="53035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Si alguien cambia de rol, la carpeta no se renombra. El dueño se declara en el README, que es un solo archivo.</a:t>
            </a:r>
            <a:endParaRPr lang="en-US" sz="1100" dirty="0"/>
          </a:p>
        </p:txBody>
      </p:sp>
      <p:sp>
        <p:nvSpPr>
          <p:cNvPr id="9" name="Shape 7"/>
          <p:cNvSpPr/>
          <p:nvPr/>
        </p:nvSpPr>
        <p:spPr>
          <a:xfrm>
            <a:off x="6217920" y="2734056"/>
            <a:ext cx="5394960" cy="1005840"/>
          </a:xfrm>
          <a:prstGeom prst="roundRect">
            <a:avLst>
              <a:gd name="adj" fmla="val 7273"/>
            </a:avLst>
          </a:prstGeom>
          <a:solidFill>
            <a:srgbClr val="F6F3EF"/>
          </a:solidFill>
          <a:ln w="12700">
            <a:solidFill>
              <a:srgbClr val="EDE8E1"/>
            </a:solidFill>
            <a:prstDash val="solid"/>
          </a:ln>
        </p:spPr>
      </p:sp>
      <p:sp>
        <p:nvSpPr>
          <p:cNvPr id="10" name="Text 8"/>
          <p:cNvSpPr txBox="1"/>
          <p:nvPr/>
        </p:nvSpPr>
        <p:spPr>
          <a:xfrm>
            <a:off x="6492240" y="2843784"/>
            <a:ext cx="4846320" cy="320040"/>
          </a:xfrm>
          <a:prstGeom prst="rect">
            <a:avLst/>
          </a:prstGeom>
          <a:noFill/>
          <a:ln/>
        </p:spPr>
        <p:txBody>
          <a:bodyPr wrap="square" lIns="0" tIns="0" rIns="0" bIns="0" rtlCol="0" anchor="ctr"/>
          <a:lstStyle/>
          <a:p>
            <a:pPr indent="0" marL="0">
              <a:buNone/>
            </a:pPr>
            <a:r>
              <a:rPr lang="en-US" sz="1250" b="1" dirty="0">
                <a:solidFill>
                  <a:srgbClr val="C87B1E"/>
                </a:solidFill>
                <a:latin typeface="Calibri" pitchFamily="34" charset="0"/>
                <a:ea typeface="Calibri" pitchFamily="34" charset="-122"/>
                <a:cs typeface="Calibri" pitchFamily="34" charset="-120"/>
              </a:rPr>
              <a:t>El número de sección va en el nombre</a:t>
            </a:r>
            <a:endParaRPr lang="en-US" sz="1250" dirty="0"/>
          </a:p>
        </p:txBody>
      </p:sp>
      <p:sp>
        <p:nvSpPr>
          <p:cNvPr id="11" name="Text 9"/>
          <p:cNvSpPr txBox="1"/>
          <p:nvPr/>
        </p:nvSpPr>
        <p:spPr>
          <a:xfrm>
            <a:off x="6492240" y="3154680"/>
            <a:ext cx="4846320" cy="53035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3.3.1_FICHAS_VENTANAS.md se ordena solo y el docente audita contra la guía sin abrir nada.</a:t>
            </a:r>
            <a:endParaRPr lang="en-US" sz="1100" dirty="0"/>
          </a:p>
        </p:txBody>
      </p:sp>
      <p:sp>
        <p:nvSpPr>
          <p:cNvPr id="12" name="Shape 10"/>
          <p:cNvSpPr/>
          <p:nvPr/>
        </p:nvSpPr>
        <p:spPr>
          <a:xfrm>
            <a:off x="6217920" y="3867912"/>
            <a:ext cx="5394960" cy="1005840"/>
          </a:xfrm>
          <a:prstGeom prst="roundRect">
            <a:avLst>
              <a:gd name="adj" fmla="val 7273"/>
            </a:avLst>
          </a:prstGeom>
          <a:solidFill>
            <a:srgbClr val="F6F3EF"/>
          </a:solidFill>
          <a:ln w="12700">
            <a:solidFill>
              <a:srgbClr val="EDE8E1"/>
            </a:solidFill>
            <a:prstDash val="solid"/>
          </a:ln>
        </p:spPr>
      </p:sp>
      <p:sp>
        <p:nvSpPr>
          <p:cNvPr id="13" name="Text 11"/>
          <p:cNvSpPr txBox="1"/>
          <p:nvPr/>
        </p:nvSpPr>
        <p:spPr>
          <a:xfrm>
            <a:off x="6492240" y="3977640"/>
            <a:ext cx="4846320" cy="320040"/>
          </a:xfrm>
          <a:prstGeom prst="rect">
            <a:avLst/>
          </a:prstGeom>
          <a:noFill/>
          <a:ln/>
        </p:spPr>
        <p:txBody>
          <a:bodyPr wrap="square" lIns="0" tIns="0" rIns="0" bIns="0" rtlCol="0" anchor="ctr"/>
          <a:lstStyle/>
          <a:p>
            <a:pPr indent="0" marL="0">
              <a:buNone/>
            </a:pPr>
            <a:r>
              <a:rPr lang="en-US" sz="1250" b="1" dirty="0">
                <a:solidFill>
                  <a:srgbClr val="C87B1E"/>
                </a:solidFill>
                <a:latin typeface="Calibri" pitchFamily="34" charset="0"/>
                <a:ea typeface="Calibri" pitchFamily="34" charset="-122"/>
                <a:cs typeface="Calibri" pitchFamily="34" charset="-120"/>
              </a:rPr>
              <a:t>Los gráficos viven en assets/</a:t>
            </a:r>
            <a:endParaRPr lang="en-US" sz="1250" dirty="0"/>
          </a:p>
        </p:txBody>
      </p:sp>
      <p:sp>
        <p:nvSpPr>
          <p:cNvPr id="14" name="Text 12"/>
          <p:cNvSpPr txBox="1"/>
          <p:nvPr/>
        </p:nvSpPr>
        <p:spPr>
          <a:xfrm>
            <a:off x="6492240" y="4288536"/>
            <a:ext cx="4846320" cy="53035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Markdown no guarda imágenes: las enlaza. Cada figura es SVG (editable y versionable) + PNG (lo que GitHub muestra).</a:t>
            </a:r>
            <a:endParaRPr lang="en-US" sz="1100" dirty="0"/>
          </a:p>
        </p:txBody>
      </p:sp>
      <p:sp>
        <p:nvSpPr>
          <p:cNvPr id="15" name="Shape 13"/>
          <p:cNvSpPr/>
          <p:nvPr/>
        </p:nvSpPr>
        <p:spPr>
          <a:xfrm>
            <a:off x="6217920" y="5001768"/>
            <a:ext cx="5394960" cy="1005840"/>
          </a:xfrm>
          <a:prstGeom prst="roundRect">
            <a:avLst>
              <a:gd name="adj" fmla="val 7273"/>
            </a:avLst>
          </a:prstGeom>
          <a:solidFill>
            <a:srgbClr val="F6F3EF"/>
          </a:solidFill>
          <a:ln w="12700">
            <a:solidFill>
              <a:srgbClr val="EDE8E1"/>
            </a:solidFill>
            <a:prstDash val="solid"/>
          </a:ln>
        </p:spPr>
      </p:sp>
      <p:sp>
        <p:nvSpPr>
          <p:cNvPr id="16" name="Text 14"/>
          <p:cNvSpPr txBox="1"/>
          <p:nvPr/>
        </p:nvSpPr>
        <p:spPr>
          <a:xfrm>
            <a:off x="6492240" y="5111496"/>
            <a:ext cx="4846320" cy="320040"/>
          </a:xfrm>
          <a:prstGeom prst="rect">
            <a:avLst/>
          </a:prstGeom>
          <a:noFill/>
          <a:ln/>
        </p:spPr>
        <p:txBody>
          <a:bodyPr wrap="square" lIns="0" tIns="0" rIns="0" bIns="0" rtlCol="0" anchor="ctr"/>
          <a:lstStyle/>
          <a:p>
            <a:pPr indent="0" marL="0">
              <a:buNone/>
            </a:pPr>
            <a:r>
              <a:rPr lang="en-US" sz="1250" b="1" dirty="0">
                <a:solidFill>
                  <a:srgbClr val="C87B1E"/>
                </a:solidFill>
                <a:latin typeface="Calibri" pitchFamily="34" charset="0"/>
                <a:ea typeface="Calibri" pitchFamily="34" charset="-122"/>
                <a:cs typeface="Calibri" pitchFamily="34" charset="-120"/>
              </a:rPr>
              <a:t>entregables/ separado del trabajo</a:t>
            </a:r>
            <a:endParaRPr lang="en-US" sz="1250" dirty="0"/>
          </a:p>
        </p:txBody>
      </p:sp>
      <p:sp>
        <p:nvSpPr>
          <p:cNvPr id="17" name="Text 15"/>
          <p:cNvSpPr txBox="1"/>
          <p:nvPr/>
        </p:nvSpPr>
        <p:spPr>
          <a:xfrm>
            <a:off x="6492240" y="5422392"/>
            <a:ext cx="4846320" cy="53035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El .pptx se regenera desde los documentos, nunca al revés: la fuente de verdad es el Markdown.</a:t>
            </a:r>
            <a:endParaRPr lang="en-US" sz="1100" dirty="0"/>
          </a:p>
        </p:txBody>
      </p:sp>
      <p:sp>
        <p:nvSpPr>
          <p:cNvPr id="18" name="Text 16"/>
          <p:cNvSpPr txBox="1"/>
          <p:nvPr/>
        </p:nvSpPr>
        <p:spPr>
          <a:xfrm>
            <a:off x="548640" y="6355080"/>
            <a:ext cx="11064240" cy="320040"/>
          </a:xfrm>
          <a:prstGeom prst="rect">
            <a:avLst/>
          </a:prstGeom>
          <a:noFill/>
          <a:ln/>
        </p:spPr>
        <p:txBody>
          <a:bodyPr wrap="square" lIns="0" tIns="0" rIns="0" bIns="0" rtlCol="0" anchor="ctr"/>
          <a:lstStyle/>
          <a:p>
            <a:pPr indent="0" marL="0">
              <a:buNone/>
            </a:pPr>
            <a:r>
              <a:rPr lang="en-US" sz="1000" i="1" dirty="0">
                <a:solidFill>
                  <a:srgbClr val="7A716A"/>
                </a:solidFill>
                <a:latin typeface="Calibri" pitchFamily="34" charset="0"/>
                <a:ea typeface="Calibri" pitchFamily="34" charset="-122"/>
                <a:cs typeface="Calibri" pitchFamily="34" charset="-120"/>
              </a:rPr>
              <a:t>git add docs/modesec  ·  git commit -m "docs(modesec): completa Fase II"  ·  git push origin main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Plan de cierre</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El orden no es negociable: la Fase I alimenta a la II. Estamos trabajando hacia atrás y hay que corregirlo</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097280"/>
                <a:gridCol w="6766560"/>
                <a:gridCol w="2011680"/>
                <a:gridCol w="1188720"/>
              </a:tblGrid>
              <a:tr h="384048">
                <a:tc>
                  <a:txBody>
                    <a:bodyPr/>
                    <a:lstStyle/>
                    <a:p>
                      <a:pPr indent="0" marL="0">
                        <a:buNone/>
                      </a:pPr>
                      <a:r>
                        <a:rPr lang="en-US" sz="1200" b="1" dirty="0">
                          <a:solidFill>
                            <a:srgbClr val="2B2622"/>
                          </a:solidFill>
                          <a:latin typeface="Calibri" pitchFamily="34" charset="0"/>
                          <a:ea typeface="Calibri" pitchFamily="34" charset="-122"/>
                          <a:cs typeface="Calibri" pitchFamily="34" charset="-120"/>
                        </a:rPr>
                        <a:t>Prioridad</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b="1" dirty="0">
                          <a:solidFill>
                            <a:srgbClr val="2B2622"/>
                          </a:solidFill>
                          <a:latin typeface="Calibri" pitchFamily="34" charset="0"/>
                          <a:ea typeface="Calibri" pitchFamily="34" charset="-122"/>
                          <a:cs typeface="Calibri" pitchFamily="34" charset="-120"/>
                        </a:rPr>
                        <a:t>Tarea</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b="1" dirty="0">
                          <a:solidFill>
                            <a:srgbClr val="2B2622"/>
                          </a:solidFill>
                          <a:latin typeface="Calibri" pitchFamily="34" charset="0"/>
                          <a:ea typeface="Calibri" pitchFamily="34" charset="-122"/>
                          <a:cs typeface="Calibri" pitchFamily="34" charset="-120"/>
                        </a:rPr>
                        <a:t>Dueño</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b="1" dirty="0">
                          <a:solidFill>
                            <a:srgbClr val="2B2622"/>
                          </a:solidFill>
                          <a:latin typeface="Calibri" pitchFamily="34" charset="0"/>
                          <a:ea typeface="Calibri" pitchFamily="34" charset="-122"/>
                          <a:cs typeface="Calibri" pitchFamily="34" charset="-120"/>
                        </a:rPr>
                        <a:t>Esfuerzo</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P0</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Formalizar el sistema de competencias (Formato 5)</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Julio + Líder</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3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P0</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Análisis de la necesidad educativa (Formato 1)</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Equipo · 1 sesión</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2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B85042"/>
                          </a:solidFill>
                          <a:latin typeface="Calibri" pitchFamily="34" charset="0"/>
                          <a:ea typeface="Calibri" pitchFamily="34" charset="-122"/>
                          <a:cs typeface="Calibri" pitchFamily="34" charset="-120"/>
                        </a:rPr>
                        <a:t>P0</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Rederivar §3.1 desde el Formato 5 y corregir lo que no trace</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Julio</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1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C87B1E"/>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Fines educativos (F4) y diseño pedagógico (F7): qué de MOCAVI se materializa</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Dis. instruccional</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3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C87B1E"/>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Diseño de aprendizaje y proceso evaluativo (F8 y F9)</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Dis. instruccional</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3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C87B1E"/>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Verificar los endpoints de las fichas contra el código real</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Jeider</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1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7A716A"/>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Rotular la Fase III como MODESEC (F15, F16, F17) + diccionario de datos</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Jeider</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4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7A716A"/>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Producir video de unidad y animación de trazado</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Por asignar</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8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7A716A"/>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Instrumento de juicio de expertos (Fase IV §5.3)</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Líder</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c>
                  <a:txBody>
                    <a:bodyPr/>
                    <a:lstStyle/>
                    <a:p>
                      <a:pPr indent="0" marL="0">
                        <a:buNone/>
                      </a:pPr>
                      <a:r>
                        <a:rPr lang="en-US" sz="1200" dirty="0">
                          <a:solidFill>
                            <a:srgbClr val="2B2622"/>
                          </a:solidFill>
                          <a:latin typeface="Calibri" pitchFamily="34" charset="0"/>
                          <a:ea typeface="Calibri" pitchFamily="34" charset="-122"/>
                          <a:cs typeface="Calibri" pitchFamily="34" charset="-120"/>
                        </a:rPr>
                        <a:t>2 h</a:t>
                      </a:r>
                      <a:endParaRPr lang="en-US" sz="1200" dirty="0">
                        <a:latin typeface="Calibri" charset="0"/>
                        <a:ea typeface="Calibri" charset="0"/>
                        <a:cs typeface="Calibri" charset="0"/>
                      </a:endParaRPr>
                    </a:p>
                  </a:txBody>
                  <a:tcPr marL="101600" marR="101600" marT="50800" marB="50800" anchor="ctr">
                    <a:lnL w="12700" cap="flat" cmpd="sng" algn="ctr">
                      <a:solidFill>
                        <a:srgbClr val="EDE8E1"/>
                      </a:solidFill>
                      <a:prstDash val="solid"/>
                      <a:round/>
                      <a:headEnd type="none" w="med" len="med"/>
                      <a:tailEnd type="none" w="med" len="med"/>
                    </a:lnL>
                    <a:lnR w="12700" cap="flat" cmpd="sng" algn="ctr">
                      <a:solidFill>
                        <a:srgbClr val="EDE8E1"/>
                      </a:solidFill>
                      <a:prstDash val="solid"/>
                      <a:round/>
                      <a:headEnd type="none" w="med" len="med"/>
                      <a:tailEnd type="none" w="med" len="med"/>
                    </a:lnR>
                    <a:lnT w="12700" cap="flat" cmpd="sng" algn="ctr">
                      <a:solidFill>
                        <a:srgbClr val="EDE8E1"/>
                      </a:solidFill>
                      <a:prstDash val="solid"/>
                      <a:round/>
                      <a:headEnd type="none" w="med" len="med"/>
                      <a:tailEnd type="none" w="med" len="med"/>
                    </a:lnT>
                    <a:lnB w="12700" cap="flat" cmpd="sng" algn="ctr">
                      <a:solidFill>
                        <a:srgbClr val="EDE8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400" b="1" dirty="0">
                <a:solidFill>
                  <a:srgbClr val="2B2622"/>
                </a:solidFill>
                <a:latin typeface="Cambria" pitchFamily="34" charset="0"/>
                <a:ea typeface="Cambria" pitchFamily="34" charset="-122"/>
                <a:cs typeface="Cambria" pitchFamily="34" charset="-120"/>
              </a:rPr>
              <a:t>Riesgos declarados</a:t>
            </a:r>
            <a:endParaRPr lang="en-US" sz="3400" dirty="0"/>
          </a:p>
        </p:txBody>
      </p:sp>
      <p:sp>
        <p:nvSpPr>
          <p:cNvPr id="3" name="Text 1"/>
          <p:cNvSpPr txBox="1"/>
          <p:nvPr/>
        </p:nvSpPr>
        <p:spPr>
          <a:xfrm>
            <a:off x="548640" y="1060704"/>
            <a:ext cx="11064240" cy="36576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Lo que no se sostiene todavía — se dice, no se esconde</a:t>
            </a:r>
            <a:endParaRPr lang="en-US" sz="1400" dirty="0"/>
          </a:p>
        </p:txBody>
      </p:sp>
      <p:sp>
        <p:nvSpPr>
          <p:cNvPr id="4" name="Shape 2"/>
          <p:cNvSpPr/>
          <p:nvPr/>
        </p:nvSpPr>
        <p:spPr>
          <a:xfrm>
            <a:off x="548640" y="1645920"/>
            <a:ext cx="11064240" cy="786384"/>
          </a:xfrm>
          <a:prstGeom prst="roundRect">
            <a:avLst>
              <a:gd name="adj" fmla="val 9302"/>
            </a:avLst>
          </a:prstGeom>
          <a:solidFill>
            <a:srgbClr val="FFFFFF"/>
          </a:solidFill>
          <a:ln w="12700">
            <a:solidFill>
              <a:srgbClr val="EDE8E1"/>
            </a:solidFill>
            <a:prstDash val="solid"/>
          </a:ln>
        </p:spPr>
      </p:sp>
      <p:sp>
        <p:nvSpPr>
          <p:cNvPr id="5" name="Shape 3"/>
          <p:cNvSpPr/>
          <p:nvPr/>
        </p:nvSpPr>
        <p:spPr>
          <a:xfrm>
            <a:off x="822960" y="1883664"/>
            <a:ext cx="310896" cy="310896"/>
          </a:xfrm>
          <a:prstGeom prst="ellipse">
            <a:avLst/>
          </a:prstGeom>
          <a:solidFill>
            <a:srgbClr val="B85042"/>
          </a:solidFill>
          <a:ln/>
        </p:spPr>
      </p:sp>
      <p:sp>
        <p:nvSpPr>
          <p:cNvPr id="6" name="Text 4"/>
          <p:cNvSpPr txBox="1"/>
          <p:nvPr/>
        </p:nvSpPr>
        <p:spPr>
          <a:xfrm>
            <a:off x="1325880" y="1737360"/>
            <a:ext cx="3200400" cy="310896"/>
          </a:xfrm>
          <a:prstGeom prst="rect">
            <a:avLst/>
          </a:prstGeom>
          <a:noFill/>
          <a:ln/>
        </p:spPr>
        <p:txBody>
          <a:bodyPr wrap="square" lIns="0" tIns="0" rIns="0" bIns="0" rtlCol="0" anchor="ctr"/>
          <a:lstStyle/>
          <a:p>
            <a:pPr indent="0" marL="0">
              <a:buNone/>
            </a:pPr>
            <a:r>
              <a:rPr lang="en-US" sz="1300" b="1" dirty="0">
                <a:solidFill>
                  <a:srgbClr val="2B2622"/>
                </a:solidFill>
                <a:latin typeface="Calibri" pitchFamily="34" charset="0"/>
                <a:ea typeface="Calibri" pitchFamily="34" charset="-122"/>
                <a:cs typeface="Calibri" pitchFamily="34" charset="-120"/>
              </a:rPr>
              <a:t>Fase I no formalizada</a:t>
            </a:r>
            <a:endParaRPr lang="en-US" sz="1300" dirty="0"/>
          </a:p>
        </p:txBody>
      </p:sp>
      <p:sp>
        <p:nvSpPr>
          <p:cNvPr id="7" name="Text 5"/>
          <p:cNvSpPr txBox="1"/>
          <p:nvPr/>
        </p:nvSpPr>
        <p:spPr>
          <a:xfrm>
            <a:off x="1325880" y="2048256"/>
            <a:ext cx="6949440" cy="34747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Si el docente pide la trazabilidad competencia → contenido → ventana, hoy no se demuestra con formatos.</a:t>
            </a:r>
            <a:endParaRPr lang="en-US" sz="1150" dirty="0"/>
          </a:p>
        </p:txBody>
      </p:sp>
      <p:sp>
        <p:nvSpPr>
          <p:cNvPr id="8" name="Text 6"/>
          <p:cNvSpPr txBox="1"/>
          <p:nvPr/>
        </p:nvSpPr>
        <p:spPr>
          <a:xfrm>
            <a:off x="8412480" y="1865376"/>
            <a:ext cx="2926080" cy="347472"/>
          </a:xfrm>
          <a:prstGeom prst="rect">
            <a:avLst/>
          </a:prstGeom>
          <a:noFill/>
          <a:ln/>
        </p:spPr>
        <p:txBody>
          <a:bodyPr wrap="square" lIns="0" tIns="0" rIns="0" bIns="0" rtlCol="0" anchor="ctr"/>
          <a:lstStyle/>
          <a:p>
            <a:pPr algn="r" indent="0" marL="0">
              <a:buNone/>
            </a:pPr>
            <a:r>
              <a:rPr lang="en-US" sz="1150" b="1" dirty="0">
                <a:solidFill>
                  <a:srgbClr val="B85042"/>
                </a:solidFill>
                <a:latin typeface="Calibri" pitchFamily="34" charset="0"/>
                <a:ea typeface="Calibri" pitchFamily="34" charset="-122"/>
                <a:cs typeface="Calibri" pitchFamily="34" charset="-120"/>
              </a:rPr>
              <a:t>Tareas P0 antes del próximo reto</a:t>
            </a:r>
            <a:endParaRPr lang="en-US" sz="1150" dirty="0"/>
          </a:p>
        </p:txBody>
      </p:sp>
      <p:sp>
        <p:nvSpPr>
          <p:cNvPr id="9" name="Shape 7"/>
          <p:cNvSpPr/>
          <p:nvPr/>
        </p:nvSpPr>
        <p:spPr>
          <a:xfrm>
            <a:off x="548640" y="2505456"/>
            <a:ext cx="11064240" cy="786384"/>
          </a:xfrm>
          <a:prstGeom prst="roundRect">
            <a:avLst>
              <a:gd name="adj" fmla="val 9302"/>
            </a:avLst>
          </a:prstGeom>
          <a:solidFill>
            <a:srgbClr val="FFFFFF"/>
          </a:solidFill>
          <a:ln w="12700">
            <a:solidFill>
              <a:srgbClr val="EDE8E1"/>
            </a:solidFill>
            <a:prstDash val="solid"/>
          </a:ln>
        </p:spPr>
      </p:sp>
      <p:sp>
        <p:nvSpPr>
          <p:cNvPr id="10" name="Shape 8"/>
          <p:cNvSpPr/>
          <p:nvPr/>
        </p:nvSpPr>
        <p:spPr>
          <a:xfrm>
            <a:off x="822960" y="2743200"/>
            <a:ext cx="310896" cy="310896"/>
          </a:xfrm>
          <a:prstGeom prst="ellipse">
            <a:avLst/>
          </a:prstGeom>
          <a:solidFill>
            <a:srgbClr val="C87B1E"/>
          </a:solidFill>
          <a:ln/>
        </p:spPr>
      </p:sp>
      <p:sp>
        <p:nvSpPr>
          <p:cNvPr id="11" name="Text 9"/>
          <p:cNvSpPr txBox="1"/>
          <p:nvPr/>
        </p:nvSpPr>
        <p:spPr>
          <a:xfrm>
            <a:off x="1325880" y="2596896"/>
            <a:ext cx="3200400" cy="310896"/>
          </a:xfrm>
          <a:prstGeom prst="rect">
            <a:avLst/>
          </a:prstGeom>
          <a:noFill/>
          <a:ln/>
        </p:spPr>
        <p:txBody>
          <a:bodyPr wrap="square" lIns="0" tIns="0" rIns="0" bIns="0" rtlCol="0" anchor="ctr"/>
          <a:lstStyle/>
          <a:p>
            <a:pPr indent="0" marL="0">
              <a:buNone/>
            </a:pPr>
            <a:r>
              <a:rPr lang="en-US" sz="1300" b="1" dirty="0">
                <a:solidFill>
                  <a:srgbClr val="2B2622"/>
                </a:solidFill>
                <a:latin typeface="Calibri" pitchFamily="34" charset="0"/>
                <a:ea typeface="Calibri" pitchFamily="34" charset="-122"/>
                <a:cs typeface="Calibri" pitchFamily="34" charset="-120"/>
              </a:rPr>
              <a:t>Endpoints sin verificar</a:t>
            </a:r>
            <a:endParaRPr lang="en-US" sz="1300" dirty="0"/>
          </a:p>
        </p:txBody>
      </p:sp>
      <p:sp>
        <p:nvSpPr>
          <p:cNvPr id="12" name="Text 10"/>
          <p:cNvSpPr txBox="1"/>
          <p:nvPr/>
        </p:nvSpPr>
        <p:spPr>
          <a:xfrm>
            <a:off x="1325880" y="2907792"/>
            <a:ext cx="6949440" cy="34747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Las acciones de las fichas citan rutas de API que aún no se han contrastado con el código.</a:t>
            </a:r>
            <a:endParaRPr lang="en-US" sz="1150" dirty="0"/>
          </a:p>
        </p:txBody>
      </p:sp>
      <p:sp>
        <p:nvSpPr>
          <p:cNvPr id="13" name="Text 11"/>
          <p:cNvSpPr txBox="1"/>
          <p:nvPr/>
        </p:nvSpPr>
        <p:spPr>
          <a:xfrm>
            <a:off x="8412480" y="2724912"/>
            <a:ext cx="2926080" cy="347472"/>
          </a:xfrm>
          <a:prstGeom prst="rect">
            <a:avLst/>
          </a:prstGeom>
          <a:noFill/>
          <a:ln/>
        </p:spPr>
        <p:txBody>
          <a:bodyPr wrap="square" lIns="0" tIns="0" rIns="0" bIns="0" rtlCol="0" anchor="ctr"/>
          <a:lstStyle/>
          <a:p>
            <a:pPr algn="r" indent="0" marL="0">
              <a:buNone/>
            </a:pPr>
            <a:r>
              <a:rPr lang="en-US" sz="1150" b="1" dirty="0">
                <a:solidFill>
                  <a:srgbClr val="C87B1E"/>
                </a:solidFill>
                <a:latin typeface="Calibri" pitchFamily="34" charset="0"/>
                <a:ea typeface="Calibri" pitchFamily="34" charset="-122"/>
                <a:cs typeface="Calibri" pitchFamily="34" charset="-120"/>
              </a:rPr>
              <a:t>Rotulados como contrato propuesto</a:t>
            </a:r>
            <a:endParaRPr lang="en-US" sz="1150" dirty="0"/>
          </a:p>
        </p:txBody>
      </p:sp>
      <p:sp>
        <p:nvSpPr>
          <p:cNvPr id="14" name="Shape 12"/>
          <p:cNvSpPr/>
          <p:nvPr/>
        </p:nvSpPr>
        <p:spPr>
          <a:xfrm>
            <a:off x="548640" y="3364992"/>
            <a:ext cx="11064240" cy="786384"/>
          </a:xfrm>
          <a:prstGeom prst="roundRect">
            <a:avLst>
              <a:gd name="adj" fmla="val 9302"/>
            </a:avLst>
          </a:prstGeom>
          <a:solidFill>
            <a:srgbClr val="FFFFFF"/>
          </a:solidFill>
          <a:ln w="12700">
            <a:solidFill>
              <a:srgbClr val="EDE8E1"/>
            </a:solidFill>
            <a:prstDash val="solid"/>
          </a:ln>
        </p:spPr>
      </p:sp>
      <p:sp>
        <p:nvSpPr>
          <p:cNvPr id="15" name="Shape 13"/>
          <p:cNvSpPr/>
          <p:nvPr/>
        </p:nvSpPr>
        <p:spPr>
          <a:xfrm>
            <a:off x="822960" y="3602736"/>
            <a:ext cx="310896" cy="310896"/>
          </a:xfrm>
          <a:prstGeom prst="ellipse">
            <a:avLst/>
          </a:prstGeom>
          <a:solidFill>
            <a:srgbClr val="C87B1E"/>
          </a:solidFill>
          <a:ln/>
        </p:spPr>
      </p:sp>
      <p:sp>
        <p:nvSpPr>
          <p:cNvPr id="16" name="Text 14"/>
          <p:cNvSpPr txBox="1"/>
          <p:nvPr/>
        </p:nvSpPr>
        <p:spPr>
          <a:xfrm>
            <a:off x="1325880" y="3456432"/>
            <a:ext cx="3200400" cy="310896"/>
          </a:xfrm>
          <a:prstGeom prst="rect">
            <a:avLst/>
          </a:prstGeom>
          <a:noFill/>
          <a:ln/>
        </p:spPr>
        <p:txBody>
          <a:bodyPr wrap="square" lIns="0" tIns="0" rIns="0" bIns="0" rtlCol="0" anchor="ctr"/>
          <a:lstStyle/>
          <a:p>
            <a:pPr indent="0" marL="0">
              <a:buNone/>
            </a:pPr>
            <a:r>
              <a:rPr lang="en-US" sz="1300" b="1" dirty="0">
                <a:solidFill>
                  <a:srgbClr val="2B2622"/>
                </a:solidFill>
                <a:latin typeface="Calibri" pitchFamily="34" charset="0"/>
                <a:ea typeface="Calibri" pitchFamily="34" charset="-122"/>
                <a:cs typeface="Calibri" pitchFamily="34" charset="-120"/>
              </a:rPr>
              <a:t>Video y animación no producidos</a:t>
            </a:r>
            <a:endParaRPr lang="en-US" sz="1300" dirty="0"/>
          </a:p>
        </p:txBody>
      </p:sp>
      <p:sp>
        <p:nvSpPr>
          <p:cNvPr id="17" name="Text 15"/>
          <p:cNvSpPr txBox="1"/>
          <p:nvPr/>
        </p:nvSpPr>
        <p:spPr>
          <a:xfrm>
            <a:off x="1325880" y="3767328"/>
            <a:ext cx="6949440" cy="34747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Están declarados en el guión técnico pero no existen todavía.</a:t>
            </a:r>
            <a:endParaRPr lang="en-US" sz="1150" dirty="0"/>
          </a:p>
        </p:txBody>
      </p:sp>
      <p:sp>
        <p:nvSpPr>
          <p:cNvPr id="18" name="Text 16"/>
          <p:cNvSpPr txBox="1"/>
          <p:nvPr/>
        </p:nvSpPr>
        <p:spPr>
          <a:xfrm>
            <a:off x="8412480" y="3584448"/>
            <a:ext cx="2926080" cy="347472"/>
          </a:xfrm>
          <a:prstGeom prst="rect">
            <a:avLst/>
          </a:prstGeom>
          <a:noFill/>
          <a:ln/>
        </p:spPr>
        <p:txBody>
          <a:bodyPr wrap="square" lIns="0" tIns="0" rIns="0" bIns="0" rtlCol="0" anchor="ctr"/>
          <a:lstStyle/>
          <a:p>
            <a:pPr algn="r" indent="0" marL="0">
              <a:buNone/>
            </a:pPr>
            <a:r>
              <a:rPr lang="en-US" sz="1150" b="1" dirty="0">
                <a:solidFill>
                  <a:srgbClr val="C87B1E"/>
                </a:solidFill>
                <a:latin typeface="Calibri" pitchFamily="34" charset="0"/>
                <a:ea typeface="Calibri" pitchFamily="34" charset="-122"/>
                <a:cs typeface="Calibri" pitchFamily="34" charset="-120"/>
              </a:rPr>
              <a:t>Degradar a trazado estático y declararlo</a:t>
            </a:r>
            <a:endParaRPr lang="en-US" sz="1150" dirty="0"/>
          </a:p>
        </p:txBody>
      </p:sp>
      <p:sp>
        <p:nvSpPr>
          <p:cNvPr id="19" name="Shape 17"/>
          <p:cNvSpPr/>
          <p:nvPr/>
        </p:nvSpPr>
        <p:spPr>
          <a:xfrm>
            <a:off x="548640" y="4224528"/>
            <a:ext cx="11064240" cy="786384"/>
          </a:xfrm>
          <a:prstGeom prst="roundRect">
            <a:avLst>
              <a:gd name="adj" fmla="val 9302"/>
            </a:avLst>
          </a:prstGeom>
          <a:solidFill>
            <a:srgbClr val="FFFFFF"/>
          </a:solidFill>
          <a:ln w="12700">
            <a:solidFill>
              <a:srgbClr val="EDE8E1"/>
            </a:solidFill>
            <a:prstDash val="solid"/>
          </a:ln>
        </p:spPr>
      </p:sp>
      <p:sp>
        <p:nvSpPr>
          <p:cNvPr id="20" name="Shape 18"/>
          <p:cNvSpPr/>
          <p:nvPr/>
        </p:nvSpPr>
        <p:spPr>
          <a:xfrm>
            <a:off x="822960" y="4462272"/>
            <a:ext cx="310896" cy="310896"/>
          </a:xfrm>
          <a:prstGeom prst="ellipse">
            <a:avLst/>
          </a:prstGeom>
          <a:solidFill>
            <a:srgbClr val="C87B1E"/>
          </a:solidFill>
          <a:ln/>
        </p:spPr>
      </p:sp>
      <p:sp>
        <p:nvSpPr>
          <p:cNvPr id="21" name="Text 19"/>
          <p:cNvSpPr txBox="1"/>
          <p:nvPr/>
        </p:nvSpPr>
        <p:spPr>
          <a:xfrm>
            <a:off x="1325880" y="4315968"/>
            <a:ext cx="3200400" cy="310896"/>
          </a:xfrm>
          <a:prstGeom prst="rect">
            <a:avLst/>
          </a:prstGeom>
          <a:noFill/>
          <a:ln/>
        </p:spPr>
        <p:txBody>
          <a:bodyPr wrap="square" lIns="0" tIns="0" rIns="0" bIns="0" rtlCol="0" anchor="ctr"/>
          <a:lstStyle/>
          <a:p>
            <a:pPr indent="0" marL="0">
              <a:buNone/>
            </a:pPr>
            <a:r>
              <a:rPr lang="en-US" sz="1300" b="1" dirty="0">
                <a:solidFill>
                  <a:srgbClr val="2B2622"/>
                </a:solidFill>
                <a:latin typeface="Calibri" pitchFamily="34" charset="0"/>
                <a:ea typeface="Calibri" pitchFamily="34" charset="-122"/>
                <a:cs typeface="Calibri" pitchFamily="34" charset="-120"/>
              </a:rPr>
              <a:t>Accesibilidad sin auditar</a:t>
            </a:r>
            <a:endParaRPr lang="en-US" sz="1300" dirty="0"/>
          </a:p>
        </p:txBody>
      </p:sp>
      <p:sp>
        <p:nvSpPr>
          <p:cNvPr id="22" name="Text 20"/>
          <p:cNvSpPr txBox="1"/>
          <p:nvPr/>
        </p:nvSpPr>
        <p:spPr>
          <a:xfrm>
            <a:off x="1325880" y="4626864"/>
            <a:ext cx="6949440" cy="34747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WCAG 2.1 AA está en el diseño, no verificada con herramienta.</a:t>
            </a:r>
            <a:endParaRPr lang="en-US" sz="1150" dirty="0"/>
          </a:p>
        </p:txBody>
      </p:sp>
      <p:sp>
        <p:nvSpPr>
          <p:cNvPr id="23" name="Text 21"/>
          <p:cNvSpPr txBox="1"/>
          <p:nvPr/>
        </p:nvSpPr>
        <p:spPr>
          <a:xfrm>
            <a:off x="8412480" y="4443984"/>
            <a:ext cx="2926080" cy="347472"/>
          </a:xfrm>
          <a:prstGeom prst="rect">
            <a:avLst/>
          </a:prstGeom>
          <a:noFill/>
          <a:ln/>
        </p:spPr>
        <p:txBody>
          <a:bodyPr wrap="square" lIns="0" tIns="0" rIns="0" bIns="0" rtlCol="0" anchor="ctr"/>
          <a:lstStyle/>
          <a:p>
            <a:pPr algn="r" indent="0" marL="0">
              <a:buNone/>
            </a:pPr>
            <a:r>
              <a:rPr lang="en-US" sz="1150" b="1" dirty="0">
                <a:solidFill>
                  <a:srgbClr val="C87B1E"/>
                </a:solidFill>
                <a:latin typeface="Calibri" pitchFamily="34" charset="0"/>
                <a:ea typeface="Calibri" pitchFamily="34" charset="-122"/>
                <a:cs typeface="Calibri" pitchFamily="34" charset="-120"/>
              </a:rPr>
              <a:t>No reportarla como cumplida</a:t>
            </a:r>
            <a:endParaRPr lang="en-US" sz="1150" dirty="0"/>
          </a:p>
        </p:txBody>
      </p:sp>
      <p:sp>
        <p:nvSpPr>
          <p:cNvPr id="24" name="Shape 22"/>
          <p:cNvSpPr/>
          <p:nvPr/>
        </p:nvSpPr>
        <p:spPr>
          <a:xfrm>
            <a:off x="548640" y="5084064"/>
            <a:ext cx="11064240" cy="786384"/>
          </a:xfrm>
          <a:prstGeom prst="roundRect">
            <a:avLst>
              <a:gd name="adj" fmla="val 9302"/>
            </a:avLst>
          </a:prstGeom>
          <a:solidFill>
            <a:srgbClr val="FFFFFF"/>
          </a:solidFill>
          <a:ln w="12700">
            <a:solidFill>
              <a:srgbClr val="EDE8E1"/>
            </a:solidFill>
            <a:prstDash val="solid"/>
          </a:ln>
        </p:spPr>
      </p:sp>
      <p:sp>
        <p:nvSpPr>
          <p:cNvPr id="25" name="Shape 23"/>
          <p:cNvSpPr/>
          <p:nvPr/>
        </p:nvSpPr>
        <p:spPr>
          <a:xfrm>
            <a:off x="822960" y="5321808"/>
            <a:ext cx="310896" cy="310896"/>
          </a:xfrm>
          <a:prstGeom prst="ellipse">
            <a:avLst/>
          </a:prstGeom>
          <a:solidFill>
            <a:srgbClr val="7A716A"/>
          </a:solidFill>
          <a:ln/>
        </p:spPr>
      </p:sp>
      <p:sp>
        <p:nvSpPr>
          <p:cNvPr id="26" name="Text 24"/>
          <p:cNvSpPr txBox="1"/>
          <p:nvPr/>
        </p:nvSpPr>
        <p:spPr>
          <a:xfrm>
            <a:off x="1325880" y="5175504"/>
            <a:ext cx="3200400" cy="310896"/>
          </a:xfrm>
          <a:prstGeom prst="rect">
            <a:avLst/>
          </a:prstGeom>
          <a:noFill/>
          <a:ln/>
        </p:spPr>
        <p:txBody>
          <a:bodyPr wrap="square" lIns="0" tIns="0" rIns="0" bIns="0" rtlCol="0" anchor="ctr"/>
          <a:lstStyle/>
          <a:p>
            <a:pPr indent="0" marL="0">
              <a:buNone/>
            </a:pPr>
            <a:r>
              <a:rPr lang="en-US" sz="1300" b="1" dirty="0">
                <a:solidFill>
                  <a:srgbClr val="2B2622"/>
                </a:solidFill>
                <a:latin typeface="Calibri" pitchFamily="34" charset="0"/>
                <a:ea typeface="Calibri" pitchFamily="34" charset="-122"/>
                <a:cs typeface="Calibri" pitchFamily="34" charset="-120"/>
              </a:rPr>
              <a:t>Umbrales sin validar</a:t>
            </a:r>
            <a:endParaRPr lang="en-US" sz="1300" dirty="0"/>
          </a:p>
        </p:txBody>
      </p:sp>
      <p:sp>
        <p:nvSpPr>
          <p:cNvPr id="27" name="Text 25"/>
          <p:cNvSpPr txBox="1"/>
          <p:nvPr/>
        </p:nvSpPr>
        <p:spPr>
          <a:xfrm>
            <a:off x="1325880" y="5486400"/>
            <a:ext cx="6949440" cy="347472"/>
          </a:xfrm>
          <a:prstGeom prst="rect">
            <a:avLst/>
          </a:prstGeom>
          <a:noFill/>
          <a:ln/>
        </p:spPr>
        <p:txBody>
          <a:bodyPr wrap="square" lIns="0" tIns="0" rIns="0" bIns="0" rtlCol="0" anchor="ctr"/>
          <a:lstStyle/>
          <a:p>
            <a:pPr indent="0" marL="0">
              <a:buNone/>
            </a:pPr>
            <a:r>
              <a:rPr lang="en-US" sz="1150" dirty="0">
                <a:solidFill>
                  <a:srgbClr val="7A716A"/>
                </a:solidFill>
                <a:latin typeface="Calibri" pitchFamily="34" charset="0"/>
                <a:ea typeface="Calibri" pitchFamily="34" charset="-122"/>
                <a:cs typeface="Calibri" pitchFamily="34" charset="-120"/>
              </a:rPr>
              <a:t>70 % / 85 % / 60 % son propuesta de diseño, no acuerdo con el docente titular.</a:t>
            </a:r>
            <a:endParaRPr lang="en-US" sz="1150" dirty="0"/>
          </a:p>
        </p:txBody>
      </p:sp>
      <p:sp>
        <p:nvSpPr>
          <p:cNvPr id="28" name="Text 26"/>
          <p:cNvSpPr txBox="1"/>
          <p:nvPr/>
        </p:nvSpPr>
        <p:spPr>
          <a:xfrm>
            <a:off x="8412480" y="5303520"/>
            <a:ext cx="2926080" cy="347472"/>
          </a:xfrm>
          <a:prstGeom prst="rect">
            <a:avLst/>
          </a:prstGeom>
          <a:noFill/>
          <a:ln/>
        </p:spPr>
        <p:txBody>
          <a:bodyPr wrap="square" lIns="0" tIns="0" rIns="0" bIns="0" rtlCol="0" anchor="ctr"/>
          <a:lstStyle/>
          <a:p>
            <a:pPr algn="r" indent="0" marL="0">
              <a:buNone/>
            </a:pPr>
            <a:r>
              <a:rPr lang="en-US" sz="1150" b="1" dirty="0">
                <a:solidFill>
                  <a:srgbClr val="7A716A"/>
                </a:solidFill>
                <a:latin typeface="Calibri" pitchFamily="34" charset="0"/>
                <a:ea typeface="Calibri" pitchFamily="34" charset="-122"/>
                <a:cs typeface="Calibri" pitchFamily="34" charset="-120"/>
              </a:rPr>
              <a:t>Validar en la próxima sesión</a:t>
            </a:r>
            <a:endParaRPr lang="en-US" sz="1150" dirty="0"/>
          </a:p>
        </p:txBody>
      </p:sp>
      <p:sp>
        <p:nvSpPr>
          <p:cNvPr id="29" name="Shape 27"/>
          <p:cNvSpPr/>
          <p:nvPr/>
        </p:nvSpPr>
        <p:spPr>
          <a:xfrm>
            <a:off x="548640" y="6035040"/>
            <a:ext cx="11064240" cy="658368"/>
          </a:xfrm>
          <a:prstGeom prst="roundRect">
            <a:avLst>
              <a:gd name="adj" fmla="val 11111"/>
            </a:avLst>
          </a:prstGeom>
          <a:solidFill>
            <a:srgbClr val="EDE8E1"/>
          </a:solidFill>
          <a:ln w="12700">
            <a:solidFill>
              <a:srgbClr val="EDE8E1"/>
            </a:solidFill>
            <a:prstDash val="solid"/>
          </a:ln>
        </p:spPr>
      </p:sp>
      <p:sp>
        <p:nvSpPr>
          <p:cNvPr id="30" name="Text 28"/>
          <p:cNvSpPr txBox="1"/>
          <p:nvPr/>
        </p:nvSpPr>
        <p:spPr>
          <a:xfrm>
            <a:off x="822960" y="6144768"/>
            <a:ext cx="10515600" cy="457200"/>
          </a:xfrm>
          <a:prstGeom prst="rect">
            <a:avLst/>
          </a:prstGeom>
          <a:noFill/>
          <a:ln/>
        </p:spPr>
        <p:txBody>
          <a:bodyPr wrap="square" lIns="0" tIns="0" rIns="0" bIns="0" rtlCol="0" anchor="ctr"/>
          <a:lstStyle/>
          <a:p>
            <a:pPr indent="0" marL="0">
              <a:buNone/>
            </a:pPr>
            <a:r>
              <a:rPr lang="en-US" sz="1250" i="1" dirty="0">
                <a:solidFill>
                  <a:srgbClr val="2B2622"/>
                </a:solidFill>
                <a:latin typeface="Calibri" pitchFamily="34" charset="0"/>
                <a:ea typeface="Calibri" pitchFamily="34" charset="-122"/>
                <a:cs typeface="Calibri" pitchFamily="34" charset="-120"/>
              </a:rPr>
              <a:t>Criterio del equipo: una pieza pendiente se declara pendiente. Un formato lleno con texto genérico vale menos que un vacío reconocido, y ante un jurado se detecta igual de rápido.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41F1B"/>
        </a:solidFill>
      </p:bgPr>
    </p:bg>
    <p:spTree>
      <p:nvGrpSpPr>
        <p:cNvPr id="1" name=""/>
        <p:cNvGrpSpPr/>
        <p:nvPr/>
      </p:nvGrpSpPr>
      <p:grpSpPr>
        <a:xfrm>
          <a:off x="0" y="0"/>
          <a:ext cx="0" cy="0"/>
          <a:chOff x="0" y="0"/>
          <a:chExt cx="0" cy="0"/>
        </a:xfrm>
      </p:grpSpPr>
      <p:sp>
        <p:nvSpPr>
          <p:cNvPr id="2" name="Shape 0"/>
          <p:cNvSpPr/>
          <p:nvPr/>
        </p:nvSpPr>
        <p:spPr>
          <a:xfrm>
            <a:off x="-1463040" y="3749040"/>
            <a:ext cx="4572000" cy="4572000"/>
          </a:xfrm>
          <a:prstGeom prst="ellipse">
            <a:avLst/>
          </a:prstGeom>
          <a:solidFill>
            <a:srgbClr val="C87B1E">
              <a:alpha val="12000"/>
            </a:srgbClr>
          </a:solidFill>
          <a:ln/>
        </p:spPr>
      </p:sp>
      <p:sp>
        <p:nvSpPr>
          <p:cNvPr id="3" name="Text 1"/>
          <p:cNvSpPr txBox="1"/>
          <p:nvPr/>
        </p:nvSpPr>
        <p:spPr>
          <a:xfrm>
            <a:off x="1005840" y="2011680"/>
            <a:ext cx="100584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Fase II cerrada</a:t>
            </a:r>
            <a:endParaRPr lang="en-US" sz="4200" dirty="0"/>
          </a:p>
        </p:txBody>
      </p:sp>
      <p:sp>
        <p:nvSpPr>
          <p:cNvPr id="4" name="Text 2"/>
          <p:cNvSpPr txBox="1"/>
          <p:nvPr/>
        </p:nvSpPr>
        <p:spPr>
          <a:xfrm>
            <a:off x="1005840" y="2926080"/>
            <a:ext cx="10058400" cy="457200"/>
          </a:xfrm>
          <a:prstGeom prst="rect">
            <a:avLst/>
          </a:prstGeom>
          <a:noFill/>
          <a:ln/>
        </p:spPr>
        <p:txBody>
          <a:bodyPr wrap="square" lIns="0" tIns="0" rIns="0" bIns="0" rtlCol="0" anchor="ctr"/>
          <a:lstStyle/>
          <a:p>
            <a:pPr indent="0" marL="0">
              <a:buNone/>
            </a:pPr>
            <a:r>
              <a:rPr lang="en-US" sz="1600" dirty="0">
                <a:solidFill>
                  <a:srgbClr val="EDE8E1"/>
                </a:solidFill>
                <a:latin typeface="Calibri" pitchFamily="34" charset="0"/>
                <a:ea typeface="Calibri" pitchFamily="34" charset="-122"/>
                <a:cs typeface="Calibri" pitchFamily="34" charset="-120"/>
              </a:rPr>
              <a:t>§3.1 · §3.2 · §3.3 · §3.3.1 · §3.3.2 · §3.3.3   —   5 formatos y 10 gráficos, versionados en el repositorio</a:t>
            </a:r>
            <a:endParaRPr lang="en-US" sz="1600" dirty="0"/>
          </a:p>
        </p:txBody>
      </p:sp>
      <p:sp>
        <p:nvSpPr>
          <p:cNvPr id="5" name="Text 3"/>
          <p:cNvSpPr txBox="1"/>
          <p:nvPr/>
        </p:nvSpPr>
        <p:spPr>
          <a:xfrm>
            <a:off x="1005840" y="3611880"/>
            <a:ext cx="9601200" cy="731520"/>
          </a:xfrm>
          <a:prstGeom prst="rect">
            <a:avLst/>
          </a:prstGeom>
          <a:noFill/>
          <a:ln/>
        </p:spPr>
        <p:txBody>
          <a:bodyPr wrap="square" lIns="0" tIns="0" rIns="0" bIns="0" rtlCol="0" anchor="ctr"/>
          <a:lstStyle/>
          <a:p>
            <a:pPr indent="0" marL="0">
              <a:buNone/>
            </a:pPr>
            <a:r>
              <a:rPr lang="en-US" sz="1400" dirty="0">
                <a:solidFill>
                  <a:srgbClr val="7A716A"/>
                </a:solidFill>
                <a:latin typeface="Calibri" pitchFamily="34" charset="0"/>
                <a:ea typeface="Calibri" pitchFamily="34" charset="-122"/>
                <a:cs typeface="Calibri" pitchFamily="34" charset="-120"/>
              </a:rPr>
              <a:t>Siguiente: formalizar la Fase I (sistema de competencias y necesidad educativa) para que la trazabilidad del modelo se sostenga de punta a punta.</a:t>
            </a:r>
            <a:endParaRPr lang="en-US" sz="1400" dirty="0"/>
          </a:p>
        </p:txBody>
      </p:sp>
      <p:sp>
        <p:nvSpPr>
          <p:cNvPr id="6" name="Text 4"/>
          <p:cNvSpPr txBox="1"/>
          <p:nvPr/>
        </p:nvSpPr>
        <p:spPr>
          <a:xfrm>
            <a:off x="1005840" y="4937760"/>
            <a:ext cx="10058400" cy="365760"/>
          </a:xfrm>
          <a:prstGeom prst="rect">
            <a:avLst/>
          </a:prstGeom>
          <a:noFill/>
          <a:ln/>
        </p:spPr>
        <p:txBody>
          <a:bodyPr wrap="square" lIns="0" tIns="0" rIns="0" bIns="0" rtlCol="0" anchor="ctr"/>
          <a:lstStyle/>
          <a:p>
            <a:pPr indent="0" marL="0">
              <a:buNone/>
            </a:pPr>
            <a:r>
              <a:rPr lang="en-US" sz="1300" b="1" dirty="0">
                <a:solidFill>
                  <a:srgbClr val="C87B1E"/>
                </a:solidFill>
                <a:latin typeface="Calibri" pitchFamily="34" charset="0"/>
                <a:ea typeface="Calibri" pitchFamily="34" charset="-122"/>
                <a:cs typeface="Calibri" pitchFamily="34" charset="-120"/>
              </a:rPr>
              <a:t>github.com/Jeider-Gomez/Stire-Soft  ·  docs/modesec/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MODESEC Fase II — STIRE</dc:title>
  <dc:subject>PptxGenJS Presentation</dc:subject>
  <dc:creator>Equipo STIRE — DDSE3 2026-2</dc:creator>
  <cp:lastModifiedBy>Equipo STIRE — DDSE3 2026-2</cp:lastModifiedBy>
  <cp:revision>1</cp:revision>
  <dcterms:created xsi:type="dcterms:W3CDTF">2026-09-01T23:28:44Z</dcterms:created>
  <dcterms:modified xsi:type="dcterms:W3CDTF">2026-09-01T23:28:44Z</dcterms:modified>
</cp:coreProperties>
</file>